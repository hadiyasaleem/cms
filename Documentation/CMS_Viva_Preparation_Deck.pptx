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14e6dfe4c4270" /><Relationship Type="http://schemas.openxmlformats.org/officeDocument/2006/relationships/extended-properties" Target="/docProps/app.xml" Id="Rae0076ded07d48de" /><Relationship Type="http://schemas.openxmlformats.org/officeDocument/2006/relationships/officeDocument" Target="/ppt/presentation.xml" Id="R70f66914ce3e4e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56c46a31b475b"/>
  </p:sldMasterIdLst>
  <p:notesMasterIdLst>
    <p:notesMasterId xmlns:r="http://schemas.openxmlformats.org/officeDocument/2006/relationships" r:id="R1349bd92c3354b0a"/>
  </p:notesMasterIdLst>
  <p:sldIdLst>
    <p:sldId xmlns:r="http://schemas.openxmlformats.org/officeDocument/2006/relationships" id="256" r:id="R4061c4a0b32c4c42"/>
    <p:sldId xmlns:r="http://schemas.openxmlformats.org/officeDocument/2006/relationships" id="257" r:id="R2baa373dc07645b5"/>
    <p:sldId xmlns:r="http://schemas.openxmlformats.org/officeDocument/2006/relationships" id="258" r:id="R931767a709924998"/>
    <p:sldId xmlns:r="http://schemas.openxmlformats.org/officeDocument/2006/relationships" id="259" r:id="Ra47f0d69badb4d59"/>
    <p:sldId xmlns:r="http://schemas.openxmlformats.org/officeDocument/2006/relationships" id="260" r:id="Rd0fa4f99a17f4d27"/>
    <p:sldId xmlns:r="http://schemas.openxmlformats.org/officeDocument/2006/relationships" id="261" r:id="Rdbcc05ea79474ef5"/>
    <p:sldId xmlns:r="http://schemas.openxmlformats.org/officeDocument/2006/relationships" id="262" r:id="Rf0347bf2b80d42c8"/>
    <p:sldId xmlns:r="http://schemas.openxmlformats.org/officeDocument/2006/relationships" id="263" r:id="Rc954fe5fde5c49ce"/>
    <p:sldId xmlns:r="http://schemas.openxmlformats.org/officeDocument/2006/relationships" id="264" r:id="R70e7c41a8ee7408d"/>
    <p:sldId xmlns:r="http://schemas.openxmlformats.org/officeDocument/2006/relationships" id="265" r:id="Rf72d5de02cd94cb6"/>
    <p:sldId xmlns:r="http://schemas.openxmlformats.org/officeDocument/2006/relationships" id="266" r:id="R94a14a40c2544499"/>
    <p:sldId xmlns:r="http://schemas.openxmlformats.org/officeDocument/2006/relationships" id="267" r:id="R431c77d7d7024afe"/>
    <p:sldId xmlns:r="http://schemas.openxmlformats.org/officeDocument/2006/relationships" id="268" r:id="Rd11f5be976744c4f"/>
    <p:sldId xmlns:r="http://schemas.openxmlformats.org/officeDocument/2006/relationships" id="269" r:id="R1b87c49905134fb8"/>
    <p:sldId xmlns:r="http://schemas.openxmlformats.org/officeDocument/2006/relationships" id="270" r:id="Rcec14c5c116e4cc4"/>
    <p:sldId xmlns:r="http://schemas.openxmlformats.org/officeDocument/2006/relationships" id="271" r:id="R3c705ad11f2b419d"/>
    <p:sldId xmlns:r="http://schemas.openxmlformats.org/officeDocument/2006/relationships" id="272" r:id="R511c5515b53f4a10"/>
    <p:sldId xmlns:r="http://schemas.openxmlformats.org/officeDocument/2006/relationships" id="273" r:id="Ra36d98fba72646b7"/>
    <p:sldId xmlns:r="http://schemas.openxmlformats.org/officeDocument/2006/relationships" id="274" r:id="Ra750039570c94337"/>
    <p:sldId xmlns:r="http://schemas.openxmlformats.org/officeDocument/2006/relationships" id="275" r:id="R995fef80e3844da9"/>
    <p:sldId xmlns:r="http://schemas.openxmlformats.org/officeDocument/2006/relationships" id="276" r:id="Rbdcc20930f334b3a"/>
    <p:sldId xmlns:r="http://schemas.openxmlformats.org/officeDocument/2006/relationships" id="277" r:id="R67a68f79da68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b53759d27946db" /><Relationship Type="http://schemas.openxmlformats.org/officeDocument/2006/relationships/slideMaster" Target="/ppt/slideMasters/slideMaster1.xml" Id="R1c756c46a31b475b" /><Relationship Type="http://schemas.openxmlformats.org/officeDocument/2006/relationships/notesMaster" Target="/ppt/notesMasters/notesMaster1.xml" Id="R1349bd92c3354b0a" /><Relationship Type="http://schemas.openxmlformats.org/officeDocument/2006/relationships/presProps" Target="/ppt/presProps.xml" Id="R0b62ad2408884dde" /><Relationship Type="http://schemas.openxmlformats.org/officeDocument/2006/relationships/tableStyles" Target="/ppt/tableStyles.xml" Id="R7ef462f276c64a9a" /><Relationship Type="http://schemas.openxmlformats.org/officeDocument/2006/relationships/slide" Target="/ppt/slides/slide1.xml" Id="R4061c4a0b32c4c42" /><Relationship Type="http://schemas.openxmlformats.org/officeDocument/2006/relationships/slide" Target="/ppt/slides/slide2.xml" Id="R2baa373dc07645b5" /><Relationship Type="http://schemas.openxmlformats.org/officeDocument/2006/relationships/slide" Target="/ppt/slides/slide3.xml" Id="R931767a709924998" /><Relationship Type="http://schemas.openxmlformats.org/officeDocument/2006/relationships/slide" Target="/ppt/slides/slide4.xml" Id="Ra47f0d69badb4d59" /><Relationship Type="http://schemas.openxmlformats.org/officeDocument/2006/relationships/slide" Target="/ppt/slides/slide5.xml" Id="Rd0fa4f99a17f4d27" /><Relationship Type="http://schemas.openxmlformats.org/officeDocument/2006/relationships/slide" Target="/ppt/slides/slide6.xml" Id="Rdbcc05ea79474ef5" /><Relationship Type="http://schemas.openxmlformats.org/officeDocument/2006/relationships/slide" Target="/ppt/slides/slide7.xml" Id="Rf0347bf2b80d42c8" /><Relationship Type="http://schemas.openxmlformats.org/officeDocument/2006/relationships/slide" Target="/ppt/slides/slide8.xml" Id="Rc954fe5fde5c49ce" /><Relationship Type="http://schemas.openxmlformats.org/officeDocument/2006/relationships/slide" Target="/ppt/slides/slide9.xml" Id="R70e7c41a8ee7408d" /><Relationship Type="http://schemas.openxmlformats.org/officeDocument/2006/relationships/slide" Target="/ppt/slides/slide10.xml" Id="Rf72d5de02cd94cb6" /><Relationship Type="http://schemas.openxmlformats.org/officeDocument/2006/relationships/slide" Target="/ppt/slides/slide11.xml" Id="R94a14a40c2544499" /><Relationship Type="http://schemas.openxmlformats.org/officeDocument/2006/relationships/slide" Target="/ppt/slides/slide12.xml" Id="R431c77d7d7024afe" /><Relationship Type="http://schemas.openxmlformats.org/officeDocument/2006/relationships/slide" Target="/ppt/slides/slide13.xml" Id="Rd11f5be976744c4f" /><Relationship Type="http://schemas.openxmlformats.org/officeDocument/2006/relationships/slide" Target="/ppt/slides/slide14.xml" Id="R1b87c49905134fb8" /><Relationship Type="http://schemas.openxmlformats.org/officeDocument/2006/relationships/slide" Target="/ppt/slides/slide15.xml" Id="Rcec14c5c116e4cc4" /><Relationship Type="http://schemas.openxmlformats.org/officeDocument/2006/relationships/slide" Target="/ppt/slides/slide16.xml" Id="R3c705ad11f2b419d" /><Relationship Type="http://schemas.openxmlformats.org/officeDocument/2006/relationships/slide" Target="/ppt/slides/slide17.xml" Id="R511c5515b53f4a10" /><Relationship Type="http://schemas.openxmlformats.org/officeDocument/2006/relationships/slide" Target="/ppt/slides/slide18.xml" Id="Ra36d98fba72646b7" /><Relationship Type="http://schemas.openxmlformats.org/officeDocument/2006/relationships/slide" Target="/ppt/slides/slide19.xml" Id="Ra750039570c94337" /><Relationship Type="http://schemas.openxmlformats.org/officeDocument/2006/relationships/slide" Target="/ppt/slides/slide20.xml" Id="R995fef80e3844da9" /><Relationship Type="http://schemas.openxmlformats.org/officeDocument/2006/relationships/slide" Target="/ppt/slides/slide21.xml" Id="Rbdcc20930f334b3a" /><Relationship Type="http://schemas.openxmlformats.org/officeDocument/2006/relationships/slide" Target="/ppt/slides/slide22.xml" Id="R67a68f79da68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c209109e047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01b3f8362a45f9" /><Relationship Type="http://schemas.openxmlformats.org/officeDocument/2006/relationships/notesMaster" Target="/ppt/notesMasters/notesMaster1.xml" Id="Rb1880c1b92b54f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6128b53904b7b" /><Relationship Type="http://schemas.openxmlformats.org/officeDocument/2006/relationships/notesMaster" Target="/ppt/notesMasters/notesMaster1.xml" Id="Rb9f9f2261af74f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a7dc19d5a40fc" /><Relationship Type="http://schemas.openxmlformats.org/officeDocument/2006/relationships/notesMaster" Target="/ppt/notesMasters/notesMaster1.xml" Id="R6570610bcda946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609b8cba5c409d" /><Relationship Type="http://schemas.openxmlformats.org/officeDocument/2006/relationships/notesMaster" Target="/ppt/notesMasters/notesMaster1.xml" Id="R538d8cde080347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fdcd2856044b8d" /><Relationship Type="http://schemas.openxmlformats.org/officeDocument/2006/relationships/notesMaster" Target="/ppt/notesMasters/notesMaster1.xml" Id="R15334a49dd144c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cf1754e5245fb" /><Relationship Type="http://schemas.openxmlformats.org/officeDocument/2006/relationships/notesMaster" Target="/ppt/notesMasters/notesMaster1.xml" Id="Rf28816654061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06c8dc8c844876" /><Relationship Type="http://schemas.openxmlformats.org/officeDocument/2006/relationships/notesMaster" Target="/ppt/notesMasters/notesMaster1.xml" Id="R8a854454f344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bffbb77164927" /><Relationship Type="http://schemas.openxmlformats.org/officeDocument/2006/relationships/notesMaster" Target="/ppt/notesMasters/notesMaster1.xml" Id="R7e23376f1e4941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9cf2fda6d5405e" /><Relationship Type="http://schemas.openxmlformats.org/officeDocument/2006/relationships/notesMaster" Target="/ppt/notesMasters/notesMaster1.xml" Id="R205169068b0547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97a7d94fcd405d" /><Relationship Type="http://schemas.openxmlformats.org/officeDocument/2006/relationships/notesMaster" Target="/ppt/notesMasters/notesMaster1.xml" Id="R215aa2bc36c546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3911b6e3884878" /><Relationship Type="http://schemas.openxmlformats.org/officeDocument/2006/relationships/notesMaster" Target="/ppt/notesMasters/notesMaster1.xml" Id="R09bcd455f63143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ccb71a30164f29" /><Relationship Type="http://schemas.openxmlformats.org/officeDocument/2006/relationships/notesMaster" Target="/ppt/notesMasters/notesMaster1.xml" Id="R4b3881e63de44f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41e221ac248b6" /><Relationship Type="http://schemas.openxmlformats.org/officeDocument/2006/relationships/notesMaster" Target="/ppt/notesMasters/notesMaster1.xml" Id="Re0a3ef0a8c3a4c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02e6adb9e74659" /><Relationship Type="http://schemas.openxmlformats.org/officeDocument/2006/relationships/notesMaster" Target="/ppt/notesMasters/notesMaster1.xml" Id="R5173e38e501b41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eeb08936134710" /><Relationship Type="http://schemas.openxmlformats.org/officeDocument/2006/relationships/notesMaster" Target="/ppt/notesMasters/notesMaster1.xml" Id="R36aa44096fc048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cfa2296e584a7e" /><Relationship Type="http://schemas.openxmlformats.org/officeDocument/2006/relationships/notesMaster" Target="/ppt/notesMasters/notesMaster1.xml" Id="R9af4776018be4a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90fd73442a4934" /><Relationship Type="http://schemas.openxmlformats.org/officeDocument/2006/relationships/notesMaster" Target="/ppt/notesMasters/notesMaster1.xml" Id="R9f0465da092949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e3892cacc343ef" /><Relationship Type="http://schemas.openxmlformats.org/officeDocument/2006/relationships/notesMaster" Target="/ppt/notesMasters/notesMaster1.xml" Id="R3aebf24c45db46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af205d03af4129" /><Relationship Type="http://schemas.openxmlformats.org/officeDocument/2006/relationships/notesMaster" Target="/ppt/notesMasters/notesMaster1.xml" Id="R5be8e5e6dc9545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e3258874ef4c2a" /><Relationship Type="http://schemas.openxmlformats.org/officeDocument/2006/relationships/notesMaster" Target="/ppt/notesMasters/notesMaster1.xml" Id="R711361e964694a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f7ceab07374b9f" /><Relationship Type="http://schemas.openxmlformats.org/officeDocument/2006/relationships/notesMaster" Target="/ppt/notesMasters/notesMaster1.xml" Id="Rbb73f35b413840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d93565f06145ed" /><Relationship Type="http://schemas.openxmlformats.org/officeDocument/2006/relationships/notesMaster" Target="/ppt/notesMasters/notesMaster1.xml" Id="Rd0581bd2aff7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Open by telling students that a viva rewards understanding of decisions and data movement, not memorized class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is the project in one sentence?</a:t>
            </a:r>
          </a:p>
          <a:p xmlns:a="http://schemas.openxmlformats.org/drawingml/2006/main">
            <a:r>
              <a:t>Model answer: It is a role-based college management system with separate Admin, Teacher, and Student clients on mobile and desktop, backed by Supabase and platform-specific local caching.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AI-generated ecosystem illustration created for this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Point to one role at a time, then emphasize that each role has both a mobile and desktop executable.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did you build separate applications instead of one screen with a role switch?</a:t>
            </a:r>
          </a:p>
          <a:p xmlns:a="http://schemas.openxmlformats.org/drawingml/2006/main">
            <a:r>
              <a:t>Model answer: Separate clients keep each workflow focused and reduce accidental exposure of actions, while shared modules prevent the domain model from being duplicated.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D:/CMS/Documentation/build/screenshots/admin_02_home.png</a:t>
            </a:r>
          </a:p>
          <a:p xmlns:a="http://schemas.openxmlformats.org/drawingml/2006/main">
            <a:r>
              <a:t>- D:/CMS/Documentation/build/screenshots/teacher_03_marks_entry.png</a:t>
            </a:r>
          </a:p>
          <a:p xmlns:a="http://schemas.openxmlformats.org/drawingml/2006/main">
            <a:r>
              <a:t>- D:/CMS/Documentation/build/screenshots/student_04_marks.png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Ask students to name one operation each role can perform and one it must not perform.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is role-based access control in this system?</a:t>
            </a:r>
          </a:p>
          <a:p xmlns:a="http://schemas.openxmlformats.org/drawingml/2006/main">
            <a:r>
              <a:t>Model answer: The authenticated user is resolved to a domain role, UI actions are limited by that role, and database RLS policies independently enforce the permitted rows and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D:/CMS/core/src/main/kotlin/com/mbd/cmscommon/domain/model/UserRole.kt</a:t>
            </a:r>
          </a:p>
          <a:p xmlns:a="http://schemas.openxmlformats.org/drawingml/2006/main">
            <a:r>
              <a:t>- D:/CMS/supabase/migrations/20260714000002_rls.sql</a:t>
            </a:r>
          </a:p>
          <a:p xmlns:a="http://schemas.openxmlformats.org/drawingml/2006/main">
            <a:r>
              <a:t>- D:/CMS/design.md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Start at core, move down to platform libraries, then to executables. This is the easiest architecture explanation to remember.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is core a plain JVM module?</a:t>
            </a:r>
          </a:p>
          <a:p xmlns:a="http://schemas.openxmlformats.org/drawingml/2006/main">
            <a:r>
              <a:t>Model answer: It keeps portable domain models, contracts, DTOs, and shared business logic independent of Android and desktop UI frameworks, so both platform stacks can depend on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D:/CMS/core/build.gradle.kts</a:t>
            </a:r>
          </a:p>
          <a:p xmlns:a="http://schemas.openxmlformats.org/drawingml/2006/main">
            <a:r>
              <a:t>- D:/CMS/mobile-shared/build.gradle.kts</a:t>
            </a:r>
          </a:p>
          <a:p xmlns:a="http://schemas.openxmlformats.org/drawingml/2006/main">
            <a:r>
              <a:t>- D:/CMS/desktop-shared/build.gradle.kts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Trace one familiar action. Students should be able to substitute marks, fees, or notifications into the same layered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use repositories?</a:t>
            </a:r>
          </a:p>
          <a:p xmlns:a="http://schemas.openxmlformats.org/drawingml/2006/main">
            <a:r>
              <a:t>Model answer: Repositories give the UI a stable domain-facing contract and hide whether data came from Room, a desktop snapshot, or Supabase.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D:/CMS/core/src/main/kotlin/com/mbd/cmscommon/domain/repository</a:t>
            </a:r>
          </a:p>
          <a:p xmlns:a="http://schemas.openxmlformats.org/drawingml/2006/main">
            <a:r>
              <a:t>- D:/CMS/mobile-shared/src/main/java/com/mbd/cmscommon/data/repository</a:t>
            </a:r>
          </a:p>
          <a:p xmlns:a="http://schemas.openxmlformats.org/drawingml/2006/main">
            <a:r>
              <a:t>- D:/CMS/desktop-shared/src/main/kotlin/com/mbd/cmsdesktop/data/repository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Explain that shared contracts do not force identical persistence. This is a deliberate abstraction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Are mobile and desktop implementations identical?</a:t>
            </a:r>
          </a:p>
          <a:p xmlns:a="http://schemas.openxmlformats.org/drawingml/2006/main">
            <a:r>
              <a:t>Model answer: No. They share domain contracts and backend services, but mobile uses Room with DAOs and checkpoints, while desktop currently seeds in-memory flows from JSON snapshot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D:/CMS/mobile-shared/src/main/java/com/mbd/cmscommon/data/local/CmsDatabase.kt</a:t>
            </a:r>
          </a:p>
          <a:p xmlns:a="http://schemas.openxmlformats.org/drawingml/2006/main">
            <a:r>
              <a:t>- D:/CMS/desktop-shared/src/main/kotlin/com/mbd/cmsdesktop/data/cache/DesktopBootstrapSnapshotStore.kt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Contrast authentication with authorization. Students often merge these two concepts in a viva.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happens after Supabase accepts the password?</a:t>
            </a:r>
          </a:p>
          <a:p xmlns:a="http://schemas.openxmlformats.org/drawingml/2006/main">
            <a:r>
              <a:t>Model answer: SessionManager exposes the signed-in identity, repository data is loaded, RoleResolver maps cached profile and teacher data into a sealed UserRole, and navigation opens the matching home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D:/CMS/core/src/main/kotlin/com/mbd/cmscommon/auth/SessionManager.kt</a:t>
            </a:r>
          </a:p>
          <a:p xmlns:a="http://schemas.openxmlformats.org/drawingml/2006/main">
            <a:r>
              <a:t>- D:/CMS/mobile-shared/src/main/java/com/mbd/cmscommon/auth/RoleResolver.kt</a:t>
            </a:r>
          </a:p>
          <a:p xmlns:a="http://schemas.openxmlformats.org/drawingml/2006/main">
            <a:r>
              <a:t>- D:/CMS/core/src/main/kotlin/com/mbd/cmscommon/domain/model/UserRole.kt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Use the attendance policy as the memorable example: admin can read attendance but cannot forge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is UI role checking not enough?</a:t>
            </a:r>
          </a:p>
          <a:p xmlns:a="http://schemas.openxmlformats.org/drawingml/2006/main">
            <a:r>
              <a:t>Model answer: A client can be modified or called directly, so the database must independently filter rows and reject unauthorized writes through RLS policies.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D:/CMS/supabase/migrations/20260714000002_rls.sql</a:t>
            </a:r>
          </a:p>
          <a:p xmlns:a="http://schemas.openxmlformats.org/drawingml/2006/main">
            <a:r>
              <a:t>- D:/CMS/core/src/main/kotlin/com/mbd/cmscommon/domain/model/UserRole.kt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Walk from department to student-owned records. Ask what would break if session_id were removed from attendance.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is a foreign key?</a:t>
            </a:r>
          </a:p>
          <a:p xmlns:a="http://schemas.openxmlformats.org/drawingml/2006/main">
            <a:r>
              <a:t>Model answer: A foreign key requires a child row to reference a valid parent row, preserving relationships such as a session belonging to a department and attendance belonging to a session student.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D:/CMS/supabase/migrations/20260714000001_schema.sql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Do not ask students to memorize 23 names at once. Make them name the five families and two examples from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How many tables are in the current SQL migration snapshot?</a:t>
            </a:r>
          </a:p>
          <a:p xmlns:a="http://schemas.openxmlformats.org/drawingml/2006/main">
            <a:r>
              <a:t>Model answer: There are 23 CREATE TABLE statements in the checked-in migrations. The important explanation is how they group around identity, academic structure, scheduling, assessment and finance, and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D:/CMS/supabase/migrations/20260714000001_schema.sql</a:t>
            </a:r>
          </a:p>
          <a:p xmlns:a="http://schemas.openxmlformats.org/drawingml/2006/main">
            <a:r>
              <a:t>- D:/CMS/supabase/migrations/20260718000001_semester_terms.sql</a:t>
            </a:r>
          </a:p>
          <a:p xmlns:a="http://schemas.openxmlformats.org/drawingml/2006/main">
            <a:r>
              <a:t>- D:/CMS/core/src/main/kotlin/com/mbd/cmscommon/data/remote/SupabaseTables.kt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Define a tombstone with the offline-device example. Then explicitly distinguish the intended sync contract from current migration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not hard-delete a synchronized row immediately?</a:t>
            </a:r>
          </a:p>
          <a:p xmlns:a="http://schemas.openxmlformats.org/drawingml/2006/main">
            <a:r>
              <a:t>Model answer: An offline client would never receive the deletion. A tombstone travels through the same updated_at stream, letting the client remove its cached row before the server eventually purges anything.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D:/CMS/mobile-shared/src/main/java/com/mbd/cmscommon/data/local/CmsDatabaseMigrations.kt</a:t>
            </a:r>
          </a:p>
          <a:p xmlns:a="http://schemas.openxmlformats.org/drawingml/2006/main">
            <a:r>
              <a:t>- D:/CMS/mobile-shared/src/main/java/com/mbd/cmscommon/data/repository/AcademicSessionRepositoryImpl.kt</a:t>
            </a:r>
          </a:p>
          <a:p xmlns:a="http://schemas.openxmlformats.org/drawingml/2006/main">
            <a:r>
              <a:t>- D:/CMS/supabase/migrations/20260714000001_schema.sql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Read the diagram from left to right. Pause at the remote success response; that ordering is the consistency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update Room after the server confirms attendance?</a:t>
            </a:r>
          </a:p>
          <a:p xmlns:a="http://schemas.openxmlformats.org/drawingml/2006/main">
            <a:r>
              <a:t>Model answer: It avoids showing a locally successful save that the backend rejected. The roster can still be read from cache, but the authoritative write is confirmed remotely before local state is finalized.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D:/CMS/Documentation/build/seq_attendance.png</a:t>
            </a:r>
          </a:p>
          <a:p xmlns:a="http://schemas.openxmlformats.org/drawingml/2006/main">
            <a:r>
              <a:t>- D:/CMS/mobile-shared/src/main/java/com/mbd/cmscommon/data/repository/SessionAttendanceRepositoryImpl.kt</a:t>
            </a:r>
          </a:p>
          <a:p xmlns:a="http://schemas.openxmlformats.org/drawingml/2006/main">
            <a:r>
              <a:t>- D:/CMS/supabase/migrations/20260714000002_rls.sql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Explain the three phases: first save, correction request, admin review. This is a design decision about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not let a teacher silently overwrite marks?</a:t>
            </a:r>
          </a:p>
          <a:p xmlns:a="http://schemas.openxmlformats.org/drawingml/2006/main">
            <a:r>
              <a:t>Model answer: Marks are high-impact records. A separate edit request preserves the original value, requested value, reason, reviewer, and status, creating an audit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D:/CMS/Documentation/build/seq_marks.png</a:t>
            </a:r>
          </a:p>
          <a:p xmlns:a="http://schemas.openxmlformats.org/drawingml/2006/main">
            <a:r>
              <a:t>- D:/CMS/mobile-shared/src/main/java/com/mbd/cmscommon/data/repository/MarkEditRequestRepositoryLocalImpl.kt</a:t>
            </a:r>
          </a:p>
          <a:p xmlns:a="http://schemas.openxmlformats.org/drawingml/2006/main">
            <a:r>
              <a:t>- D:/CMS/core/src/main/kotlin/com/mbd/cmscommon/domain/model/MarkEditRequest.kt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Use a real-world analogy: a login proves control of an email, not ownership of a college roll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does UserRole include both LinkedStudent and UnlinkedStudent?</a:t>
            </a:r>
          </a:p>
          <a:p xmlns:a="http://schemas.openxmlformats.org/drawingml/2006/main">
            <a:r>
              <a:t>Model answer: It models the identity-verification lifecycle explicitly, allowing registration without granting access to academic records until a link request is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D:/CMS/core/src/main/kotlin/com/mbd/cmscommon/domain/model/UserRole.kt</a:t>
            </a:r>
          </a:p>
          <a:p xmlns:a="http://schemas.openxmlformats.org/drawingml/2006/main">
            <a:r>
              <a:t>- D:/CMS/mobile-shared/src/main/java/com/mbd/cmscommon/data/repository/StudentLinkRequestRepositoryImpl.kt</a:t>
            </a:r>
          </a:p>
          <a:p xmlns:a="http://schemas.openxmlformats.org/drawingml/2006/main">
            <a:r>
              <a:t>- D:/CMS/supabase/migrations/20260714000002_rls.sql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Read each row across. Students should be able to compare persistence, reactivity, refresh, deletion, and offline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can the two platforms share repository interfaces while using different caches?</a:t>
            </a:r>
          </a:p>
          <a:p xmlns:a="http://schemas.openxmlformats.org/drawingml/2006/main">
            <a:r>
              <a:t>Model answer: The interface describes domain operations and flows, while each platform supplies an adapter suited to its storage technology and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D:/CMS/mobile-shared/src/main/java/com/mbd/cmscommon/data/local/CmsDatabase.kt</a:t>
            </a:r>
          </a:p>
          <a:p xmlns:a="http://schemas.openxmlformats.org/drawingml/2006/main">
            <a:r>
              <a:t>- D:/CMS/mobile-shared/src/main/java/com/mbd/cmscommon/data/sync/RoomSyncCheckpointStore.kt</a:t>
            </a:r>
          </a:p>
          <a:p xmlns:a="http://schemas.openxmlformats.org/drawingml/2006/main">
            <a:r>
              <a:t>- D:/CMS/desktop-shared/src/main/kotlin/com/mbd/cmsdesktop/data/cache/DesktopBootstrapSnapshotStore.kt</a:t>
            </a:r>
          </a:p>
          <a:p xmlns:a="http://schemas.openxmlformats.org/drawingml/2006/main">
            <a:r>
              <a:t>- D:/CMS/desktop-shared/src/main/kotlin/com/mbd/cmsdesktop/data/repository/DesktopAcademicSessionRepositoryImpl.kt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Use the picture, then map each visual cue to the four code steps. State that the desktop bundle in the picture represents its broader snapshot refresh.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makes this synchronization incremental?</a:t>
            </a:r>
          </a:p>
          <a:p xmlns:a="http://schemas.openxmlformats.org/drawingml/2006/main">
            <a:r>
              <a:t>Model answer: The client stores the greatest remote updated_at it has processed for a particular owner, table, and scope, then asks only for rows at or beyond that value on the next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synchronization illustration created for this deck</a:t>
            </a:r>
          </a:p>
          <a:p xmlns:a="http://schemas.openxmlformats.org/drawingml/2006/main">
            <a:r>
              <a:t>- D:/CMS/mobile-shared/src/main/java/com/mbd/cmscommon/data/repository/AcademicSessionRepositoryImpl.kt</a:t>
            </a:r>
          </a:p>
          <a:p xmlns:a="http://schemas.openxmlformats.org/drawingml/2006/main">
            <a:r>
              <a:t>- D:/CMS/mobile-shared/src/main/java/com/mbd/cmscommon/data/sync/RoomSyncCheckpointStore.kt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Use the sample key as a sentence. Then contrast the two local state tables; this is a common viva 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keep sync_state and table_sync_state separate?</a:t>
            </a:r>
          </a:p>
          <a:p xmlns:a="http://schemas.openxmlformats.org/drawingml/2006/main">
            <a:r>
              <a:t>Model answer: Bootstrap completion is a yes-or-no milestone for startup, while data checkpoints are per-owner, per-table, per-scope cursors. Combining them would confuse lifecycle state with data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D:/CMS/core/src/main/kotlin/com/mbd/cmscommon/data/sync/SyncCheckpoint.kt</a:t>
            </a:r>
          </a:p>
          <a:p xmlns:a="http://schemas.openxmlformats.org/drawingml/2006/main">
            <a:r>
              <a:t>- D:/CMS/mobile-shared/src/main/java/com/mbd/cmscommon/data/sync/StartupBootstrapTracker.kt</a:t>
            </a:r>
          </a:p>
          <a:p xmlns:a="http://schemas.openxmlformats.org/drawingml/2006/main">
            <a:r>
              <a:t>- D:/CMS/mobile-shared/src/main/java/com/mbd/cmscommon/data/local/entity/TableSyncStateEntity.kt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Use the two rows at 10:05 to explain the boundary. This is more memorable than defining inclusive cursor abstractly.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Why use greater-than-or-equal instead of greater-than?</a:t>
            </a:r>
          </a:p>
          <a:p xmlns:a="http://schemas.openxmlformats.org/drawingml/2006/main">
            <a:r>
              <a:t>Model answer: Several rows can share the same timestamp. An inclusive query re-reads the boundary so a row committed at that timestamp is not missed; local delta application must therefore be idempotent.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D:/CMS/mobile-shared/src/main/java/com/mbd/cmscommon/data/repository/AcademicSessionRepositoryImpl.kt</a:t>
            </a:r>
          </a:p>
          <a:p xmlns:a="http://schemas.openxmlformats.org/drawingml/2006/main">
            <a:r>
              <a:t>- D:/CMS/mobile-shared/src/main/java/com/mbd/cmscommon/data/repository/DepartmentRepositoryImpl.kt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Make students practice the exact honest sentence. It turns a weakness into evidence that they understand verification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Is incremental synchronization complete across all six applications?</a:t>
            </a:r>
          </a:p>
          <a:p xmlns:a="http://schemas.openxmlformats.org/drawingml/2006/main">
            <a:r>
              <a:t>Model answer: Not end to end. Mobile client code contains checkpoints and delta application, but desktop still uses snapshots and the checked-in backend migrations are not fully aligned with the client’s audit and tombstone expectations.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D:/CMS/mobile-shared/src/main/java/com/mbd/cmscommon/data/sync/RoomSyncCheckpointStore.kt</a:t>
            </a:r>
          </a:p>
          <a:p xmlns:a="http://schemas.openxmlformats.org/drawingml/2006/main">
            <a:r>
              <a:t>- D:/CMS/desktop-shared/src/main/kotlin/com/mbd/cmsdesktop/data/cache/DesktopBootstrapSnapshotStore.kt</a:t>
            </a:r>
          </a:p>
          <a:p xmlns:a="http://schemas.openxmlformats.org/drawingml/2006/main">
            <a:r>
              <a:t>- D:/CMS/core/src/main/kotlin/com/mbd/cmscommon/data/remote/SupabaseTables.kt</a:t>
            </a:r>
          </a:p>
          <a:p xmlns:a="http://schemas.openxmlformats.org/drawingml/2006/main">
            <a:r>
              <a:t>- D:/CMS/supabase/migrations/20260714000001_schema.sql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Run this as a rapid-fire exercise. Accept different wording only when the meaning stays precise.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is the difference between a DTO and an entity?</a:t>
            </a:r>
          </a:p>
          <a:p xmlns:a="http://schemas.openxmlformats.org/drawingml/2006/main">
            <a:r>
              <a:t>Model answer: A DTO matches the remote API payload, while an entity matches the local database schema; a mapper translates between them and the domain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D:/CMS/core/src/main/kotlin/com/mbd/cmscommon/data/remote/dto</a:t>
            </a:r>
          </a:p>
          <a:p xmlns:a="http://schemas.openxmlformats.org/drawingml/2006/main">
            <a:r>
              <a:t>- D:/CMS/mobile-shared/src/main/java/com/mbd/cmscommon/data/local/entity</a:t>
            </a:r>
          </a:p>
          <a:p xmlns:a="http://schemas.openxmlformats.org/drawingml/2006/main">
            <a:r>
              <a:t>- D:/CMS/mobile-shared/src/main/java/com/mbd/cmscommon/data/local/dao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Have one student answer using all five parts, then let the group identify any missing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How should I structure an architecture answer under pressure?</a:t>
            </a:r>
          </a:p>
          <a:p xmlns:a="http://schemas.openxmlformats.org/drawingml/2006/main">
            <a:r>
              <a:t>Model answer: State the problem, locate the responsible modules or layers, trace one data flow, name the decision and tradeoff, then cite concrete evidence from code or 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D:/CMS/core/src/main/kotlin/com/mbd/cmscommon/domain/repository</a:t>
            </a:r>
          </a:p>
          <a:p xmlns:a="http://schemas.openxmlformats.org/drawingml/2006/main">
            <a:r>
              <a:t>- D:/CMS/mobile-shared/src/main/java/com/mbd/cmscommon/data/repository</a:t>
            </a:r>
          </a:p>
          <a:p xmlns:a="http://schemas.openxmlformats.org/drawingml/2006/main">
            <a:r>
              <a:t>- D:/CMS/desktop-shared/src/main/kotlin/com/mbd/cmsdesktop/data/repository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cue: Close with the synthesis sentence, then assign each student two questions to answer without looking at the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viva question: What should the examiner remember after your answer?</a:t>
            </a:r>
          </a:p>
          <a:p xmlns:a="http://schemas.openxmlformats.org/drawingml/2006/main">
            <a:r>
              <a:t>Model answer: The project has a clear separation of roles, modules, layers, security boundaries, data relationships, and synchronization responsibilities, including an honest account of current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D:/CMS/settings.gradle.kts</a:t>
            </a:r>
          </a:p>
          <a:p xmlns:a="http://schemas.openxmlformats.org/drawingml/2006/main">
            <a:r>
              <a:t>- D:/CMS/supabase/migrations/20260714000002_rls.sql</a:t>
            </a:r>
          </a:p>
          <a:p xmlns:a="http://schemas.openxmlformats.org/drawingml/2006/main">
            <a:r>
              <a:t>- D:/CMS/mobile-shared/src/main/java/com/mbd/cmscommon/data/sync</a:t>
            </a:r>
          </a:p>
          <a:p xmlns:a="http://schemas.openxmlformats.org/drawingml/2006/main">
            <a:r>
              <a:t>- D:/CMS/desktop-shared/src/main/kotlin/com/mbd/cmsdesktop/data/cache/DesktopBootstrapSnapshotStore.kt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7c381bf0749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e627ab1bdd4564" /><Relationship Type="http://schemas.openxmlformats.org/officeDocument/2006/relationships/slideLayout" Target="/ppt/slideLayouts/slideLayout1.xml" Id="Rba5b86937469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5b86937469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b8f0d8fca4dcf" /><Relationship Type="http://schemas.openxmlformats.org/officeDocument/2006/relationships/image" Target="/ppt/media/image.png" Id="R2b6bcb27746146b8" /><Relationship Type="http://schemas.openxmlformats.org/officeDocument/2006/relationships/notesSlide" Target="/ppt/notesSlides/notesSlide1.xml" Id="Ra93c281a6665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cfbccf7d142c4" /><Relationship Type="http://schemas.openxmlformats.org/officeDocument/2006/relationships/image" Target="/ppt/media/image2.png" Id="R4dc0533bf542465a" /><Relationship Type="http://schemas.openxmlformats.org/officeDocument/2006/relationships/image" Target="/ppt/media/image3.png" Id="R7862d614096f4765" /><Relationship Type="http://schemas.openxmlformats.org/officeDocument/2006/relationships/image" Target="/ppt/media/image4.png" Id="Rd8b52c0659b246dd" /><Relationship Type="http://schemas.openxmlformats.org/officeDocument/2006/relationships/notesSlide" Target="/ppt/notesSlides/notesSlide2.xml" Id="Red8d8dbb8f4743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7f10b649c4cae" /><Relationship Type="http://schemas.openxmlformats.org/officeDocument/2006/relationships/notesSlide" Target="/ppt/notesSlides/notesSlide3.xml" Id="R16269741ae5942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5fd341f844f59" /><Relationship Type="http://schemas.openxmlformats.org/officeDocument/2006/relationships/notesSlide" Target="/ppt/notesSlides/notesSlide4.xml" Id="Rfe78ff5fcd8b44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ae2b006d64686" /><Relationship Type="http://schemas.openxmlformats.org/officeDocument/2006/relationships/notesSlide" Target="/ppt/notesSlides/notesSlide5.xml" Id="Rfeeb4f91bd6b40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604e3c214021" /><Relationship Type="http://schemas.openxmlformats.org/officeDocument/2006/relationships/notesSlide" Target="/ppt/notesSlides/notesSlide6.xml" Id="R4c291c2c1be3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201a970534855" /><Relationship Type="http://schemas.openxmlformats.org/officeDocument/2006/relationships/notesSlide" Target="/ppt/notesSlides/notesSlide7.xml" Id="Rd0cc855b29f242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86be88214bc6" /><Relationship Type="http://schemas.openxmlformats.org/officeDocument/2006/relationships/notesSlide" Target="/ppt/notesSlides/notesSlide8.xml" Id="R8ec9347e5044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b3d8868d4ad8" /><Relationship Type="http://schemas.openxmlformats.org/officeDocument/2006/relationships/notesSlide" Target="/ppt/notesSlides/notesSlide9.xml" Id="Re22b559fafb242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57d6d5454424d" /><Relationship Type="http://schemas.openxmlformats.org/officeDocument/2006/relationships/notesSlide" Target="/ppt/notesSlides/notesSlide10.xml" Id="Re2113126c2914f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00693fe244fb6" /><Relationship Type="http://schemas.openxmlformats.org/officeDocument/2006/relationships/notesSlide" Target="/ppt/notesSlides/notesSlide11.xml" Id="Rd2aca608779445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795e558e4038" /><Relationship Type="http://schemas.openxmlformats.org/officeDocument/2006/relationships/image" Target="/ppt/media/image5.png" Id="Rf2adc6f8f3144d0b" /><Relationship Type="http://schemas.openxmlformats.org/officeDocument/2006/relationships/notesSlide" Target="/ppt/notesSlides/notesSlide12.xml" Id="R5e3780a7c31642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918c51cce4438" /><Relationship Type="http://schemas.openxmlformats.org/officeDocument/2006/relationships/image" Target="/ppt/media/image6.png" Id="Rc286c42aaec04c00" /><Relationship Type="http://schemas.openxmlformats.org/officeDocument/2006/relationships/notesSlide" Target="/ppt/notesSlides/notesSlide13.xml" Id="Rd660ae3467a842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159b068d4611" /><Relationship Type="http://schemas.openxmlformats.org/officeDocument/2006/relationships/notesSlide" Target="/ppt/notesSlides/notesSlide14.xml" Id="Rdba28d1005e14e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c98a8491c4d73" /><Relationship Type="http://schemas.openxmlformats.org/officeDocument/2006/relationships/notesSlide" Target="/ppt/notesSlides/notesSlide15.xml" Id="R02f1c840209340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e02a4a6384d5d" /><Relationship Type="http://schemas.openxmlformats.org/officeDocument/2006/relationships/image" Target="/ppt/media/image7.png" Id="R03fb3aeebcb24de5" /><Relationship Type="http://schemas.openxmlformats.org/officeDocument/2006/relationships/notesSlide" Target="/ppt/notesSlides/notesSlide16.xml" Id="Rf4cd3af4f0fc44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1e6e39284a74" /><Relationship Type="http://schemas.openxmlformats.org/officeDocument/2006/relationships/notesSlide" Target="/ppt/notesSlides/notesSlide17.xml" Id="R234910bea43c43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1ebbb2383489a" /><Relationship Type="http://schemas.openxmlformats.org/officeDocument/2006/relationships/notesSlide" Target="/ppt/notesSlides/notesSlide18.xml" Id="Ra0aa18f33b2d48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cf2ebcaf147fe" /><Relationship Type="http://schemas.openxmlformats.org/officeDocument/2006/relationships/notesSlide" Target="/ppt/notesSlides/notesSlide19.xml" Id="R35d8f871b9f84d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6aa95f49a43dc" /><Relationship Type="http://schemas.openxmlformats.org/officeDocument/2006/relationships/notesSlide" Target="/ppt/notesSlides/notesSlide20.xml" Id="R8df9d9d9d20545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06115dd504b99" /><Relationship Type="http://schemas.openxmlformats.org/officeDocument/2006/relationships/notesSlide" Target="/ppt/notesSlides/notesSlide21.xml" Id="Re60e78cdfcd442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ce32af3dc4e0e" /><Relationship Type="http://schemas.openxmlformats.org/officeDocument/2006/relationships/notesSlide" Target="/ppt/notesSlides/notesSlide22.xml" Id="Re163cb2f715f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bcb27746146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386EA-B680-441C-9099-33ED9338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408AD-EF8A-4A7F-9518-76ADD210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22B1D"/>
                </a:solidFill>
              </a:defRPr>
            </a:pPr>
            <a:r>
              <a:rPr sz="1200" b="1" i="0">
                <a:solidFill>
                  <a:srgbClr val="B22B1D"/>
                </a:solidFill>
              </a:rPr>
              <a:t>COLLEGE MANAGEMENT SYSTEM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410FA0-B74D-413B-928A-381FDC1D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1820"/>
                </a:solidFill>
              </a:defRPr>
            </a:pPr>
            <a:r>
              <a:rPr sz="4350" b="1" i="0">
                <a:solidFill>
                  <a:srgbClr val="101820"/>
                </a:solidFill>
              </a:rPr>
              <a:t>CMS Viva</a:t>
            </a:r>
          </a:p>
          <a:p xmlns:a="http://schemas.openxmlformats.org/drawingml/2006/main">
            <a:pPr algn="l">
              <a:defRPr sz="4350" b="1" i="0">
                <a:solidFill>
                  <a:srgbClr val="101820"/>
                </a:solidFill>
              </a:defRPr>
            </a:pPr>
            <a:r>
              <a:rPr sz="4350" b="1" i="0">
                <a:solidFill>
                  <a:srgbClr val="101820"/>
                </a:solidFill>
              </a:rPr>
              <a:t>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6EC55-F1F8-4E7E-987F-FC3BA8D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81AB9-C6FC-41A3-B98F-B545CF9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2147"/>
                </a:solidFill>
              </a:defRPr>
            </a:pPr>
            <a:r>
              <a:rPr sz="1725" b="0" i="0">
                <a:solidFill>
                  <a:srgbClr val="002147"/>
                </a:solidFill>
              </a:rPr>
              <a:t>Architecture • Database • Flows • Sync • Key terms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C412B-F559-4F7B-B778-E2CE209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9636E"/>
                </a:solidFill>
              </a:defRPr>
            </a:pPr>
            <a:r>
              <a:rPr sz="1575" b="1" i="0">
                <a:solidFill>
                  <a:srgbClr val="59636E"/>
                </a:solidFill>
              </a:rPr>
              <a:t>Explain the decisions, not just the screens.</a:t>
            </a:r>
          </a:p>
        </p:txBody>
      </p:sp>
    </p:spTree>
    <p:extLst>
      <p:ext uri="{BB962C8B-B14F-4D97-AF65-F5344CB8AC3E}">
        <p14:creationId xmlns:p14="http://schemas.microsoft.com/office/powerpoint/2010/main" val="1647988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C087-4A0D-41A3-8E8E-A2C26176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634AC1D-2465-4641-97E8-C3A920B9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One product serves six clients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2B3DF-D426-4169-99E2-A52809E8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3304-95AB-418F-89BB-619CCFD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70B9E-2142-407A-824F-29FC183C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The same academic data appears through three roles on two platforms.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88EEB-8FEC-4857-9BE9-D25DBBB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9527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0533bf542465a"/>
          <a:stretch xmlns:a="http://schemas.openxmlformats.org/drawingml/2006/main"/>
        </p:blipFill>
        <p:spPr>
          <a:xfrm xmlns:a="http://schemas.openxmlformats.org/drawingml/2006/main">
            <a:off x="1012031" y="2085975"/>
            <a:ext cx="1671638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A8FA4-4F80-4C79-ABD5-375FBBF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22B1D"/>
                </a:solidFill>
              </a:defRPr>
            </a:pPr>
            <a:r>
              <a:rPr sz="1350" b="1" i="0">
                <a:solidFill>
                  <a:srgbClr val="B22B1D"/>
                </a:solidFill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F96DE-C8BB-4AB9-85D9-3109898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87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oversight and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657C9-9965-41DC-A15C-B74CE4A0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053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Mobile</a:t>
            </a:r>
          </a:p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D981A-585D-45AD-A09C-86631842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29527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2d614096f4765"/>
          <a:stretch xmlns:a="http://schemas.openxmlformats.org/drawingml/2006/main"/>
        </p:blipFill>
        <p:spPr>
          <a:xfrm xmlns:a="http://schemas.openxmlformats.org/drawingml/2006/main">
            <a:off x="4660106" y="2085975"/>
            <a:ext cx="1671638" cy="3714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26B8C-6907-433E-B31B-643F7A2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38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18000"/>
                </a:solidFill>
              </a:defRPr>
            </a:pPr>
            <a:r>
              <a:rPr sz="1350" b="1" i="0">
                <a:solidFill>
                  <a:srgbClr val="B18000"/>
                </a:solidFill>
              </a:rPr>
              <a:t>TEACHER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60DD2-1CB7-4C97-BFC6-C31C6CB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87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teaching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BCA53-CA93-44D9-9698-6788714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053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Mobile</a:t>
            </a:r>
          </a:p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Desktop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C4988-D576-4A96-8ADF-01D52F4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29527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52c0659b246dd"/>
          <a:stretch xmlns:a="http://schemas.openxmlformats.org/drawingml/2006/main"/>
        </p:blipFill>
        <p:spPr>
          <a:xfrm xmlns:a="http://schemas.openxmlformats.org/drawingml/2006/main">
            <a:off x="8308181" y="2085975"/>
            <a:ext cx="1671638" cy="3714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EB795-1393-4CBB-8B08-027B705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38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7D32"/>
                </a:solidFill>
              </a:defRPr>
            </a:pPr>
            <a:r>
              <a:rPr sz="1350" b="1" i="0">
                <a:solidFill>
                  <a:srgbClr val="2E7D32"/>
                </a:solidFill>
              </a:rPr>
              <a:t>STUDENT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107E1-27E6-4647-96E5-F36C9B0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00350"/>
            <a:ext cx="87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personal academic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92DDE-72DE-410D-8A67-A44BABA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053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Mobile</a:t>
            </a:r>
          </a:p>
          <a:p xmlns:a="http://schemas.openxmlformats.org/drawingml/2006/main">
            <a:pPr algn="l">
              <a:defRPr sz="1275" b="1" i="0">
                <a:solidFill>
                  <a:srgbClr val="002147"/>
                </a:solidFill>
              </a:defRPr>
            </a:pPr>
            <a:r>
              <a:rPr sz="1275" b="1" i="0">
                <a:solidFill>
                  <a:srgbClr val="002147"/>
                </a:solidFill>
              </a:rPr>
              <a:t>Desktop</a:t>
            </a:r>
          </a:p>
        </p:txBody>
      </p:sp>
    </p:spTree>
    <p:extLst>
      <p:ext uri="{BB962C8B-B14F-4D97-AF65-F5344CB8AC3E}">
        <p14:creationId xmlns:p14="http://schemas.microsoft.com/office/powerpoint/2010/main" val="2134440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0EE4E-A80A-4938-AC49-A7E0033D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1E7788A-E44B-4713-8E39-E210AB0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Three roles divide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B6C7B-EAF5-41A7-BBEB-1DE0143C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8105-3A9F-4FD4-954D-D6F36A5B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74611-BF26-4A2F-8673-5C28902A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238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F9715-4C18-42DA-88DC-3C78D18E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22B1D"/>
                </a:solidFill>
              </a:defRPr>
            </a:pPr>
            <a:r>
              <a:rPr sz="1950" b="1" i="0">
                <a:solidFill>
                  <a:srgbClr val="B22B1D"/>
                </a:solidFill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C4B3-3DB7-4AAA-952F-DE9FEF5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Creates academic structure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Manages people and permissions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Reviews controlled workflows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Reads institution-wide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7271-D5D6-4E92-9CDA-7628C77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3238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4B5C4-F7E2-4BF4-A77A-06A4A26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716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18000"/>
                </a:solidFill>
              </a:defRPr>
            </a:pPr>
            <a:r>
              <a:rPr sz="1950" b="1" i="0">
                <a:solidFill>
                  <a:srgbClr val="B18000"/>
                </a:solidFill>
              </a:rPr>
              <a:t>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6258B-0E79-4173-B4C8-23E49DB5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Works with assigned sessions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Records attendance and marks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Submits papers and requests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Views teaching insights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2766B-46A3-4A3F-B13C-ADC27235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238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AF605-0BBE-49CB-8543-E6C32DCE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E7D32"/>
                </a:solidFill>
              </a:defRPr>
            </a:pPr>
            <a:r>
              <a:rPr sz="1950" b="1" i="0">
                <a:solidFill>
                  <a:srgbClr val="2E7D32"/>
                </a:solidFill>
              </a:rPr>
              <a:t>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68C2C-0EAE-40F9-997C-199812E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Links an account to a record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Views own attendance and marks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Checks timetable, fees, datesheets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Receives scoped 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4B87F-6808-4380-8F50-5E29A3F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57850"/>
            <a:ext cx="845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938AF-C653-4C63-876F-AD379DA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97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Same records. Different authority. The backend still checks every request.</a:t>
            </a:r>
          </a:p>
        </p:txBody>
      </p:sp>
    </p:spTree>
    <p:extLst>
      <p:ext uri="{BB962C8B-B14F-4D97-AF65-F5344CB8AC3E}">
        <p14:creationId xmlns:p14="http://schemas.microsoft.com/office/powerpoint/2010/main" val="667592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8CD71-589A-4B6E-A764-B12A165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CFCDC91-3423-4833-B514-50BEA53C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Nine modules separate concerns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58FD-94E6-4850-B73D-6F3F2ED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B722-1D4C-45E6-8D2D-C1E1C42D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13589-481F-4657-9439-D6CF657C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Three libraries hold shared logic; six executables provide role-specific entry 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EEA69-211E-47FF-9DFA-26D33BD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381000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E1B76-B138-4296-8385-22A4B012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63049-7774-450E-A5F6-43DE18F3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0025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ABCFF-9D55-4B65-B9D9-95987BD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33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core</a:t>
            </a:r>
          </a:p>
          <a:p xmlns:a="http://schemas.openxmlformats.org/drawingml/2006/main">
            <a:pPr algn="ctr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portable domain • DTOs • repositories • 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60696-B348-474E-BB26-7FD017B0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mobile-shared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Room • Hilt • Android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6441F-96A0-483F-B1A8-22B66AFC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desktop-shared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Dagger • snapshots • Desktop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02EE4-2FC0-435F-93DF-A3192F03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mobile-admin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D8AF5-39F9-4E39-8496-1F0A74E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mobile-teacher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DC85C-7905-4598-93A7-5A09B7D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mobile-student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16635-8CCF-4C29-A046-ED1E6FBF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desktop-admin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FF703-569C-47EE-B9C9-78617A4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desktop-teacher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BEF61-9197-4CD9-A767-DDCE4773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054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</a:defRPr>
            </a:pPr>
            <a:r>
              <a:rPr sz="1275" b="1">
                <a:solidFill>
                  <a:srgbClr val="101820"/>
                </a:solidFill>
              </a:rPr>
              <a:t>desktop-student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5657-AA12-4E9D-88E2-85A2976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7D32"/>
                </a:solidFill>
              </a:defRPr>
            </a:pPr>
            <a:r>
              <a:rPr sz="1350" b="1" i="0">
                <a:solidFill>
                  <a:srgbClr val="2E7D32"/>
                </a:solidFill>
              </a:rPr>
              <a:t>Android apps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1D035-12C0-44DC-97BF-FF265B5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18000"/>
                </a:solidFill>
              </a:defRPr>
            </a:pPr>
            <a:r>
              <a:rPr sz="1350" b="1" i="0">
                <a:solidFill>
                  <a:srgbClr val="B18000"/>
                </a:solidFill>
              </a:rPr>
              <a:t>Desktop apps</a:t>
            </a:r>
          </a:p>
        </p:txBody>
      </p:sp>
    </p:spTree>
    <p:extLst>
      <p:ext uri="{BB962C8B-B14F-4D97-AF65-F5344CB8AC3E}">
        <p14:creationId xmlns:p14="http://schemas.microsoft.com/office/powerpoint/2010/main" val="123411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89164-E082-4DCD-8C43-32CE88A5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5938557-C8BB-4619-A4A0-46814BD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Every request crosses four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7C204-8986-4168-B6D6-432D1FC0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8FDA0-27B1-4BDA-8D98-C00095A2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601B4-CB91-4724-B928-AE72797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Follow one action from a tap to stored data; that path explains most of the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78F0A-5EBF-4B50-A199-5A71B019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71825"/>
            <a:ext cx="5334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B8466-03AD-482C-B212-0029468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71825"/>
            <a:ext cx="5334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6C5E-3304-4BD6-BD57-AE73D941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71825"/>
            <a:ext cx="5334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368C3-876E-48D3-8DA1-D3B1673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324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4534D-501B-4E8B-B791-2347164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22B1D"/>
                </a:solidFill>
              </a:defRPr>
            </a:pPr>
            <a:r>
              <a:rPr sz="1800" b="1" i="0">
                <a:solidFill>
                  <a:srgbClr val="B22B1D"/>
                </a:solidFill>
              </a:rPr>
              <a:t>1 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9142E-50B9-447E-824E-46D52B6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Compose screen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collects state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emits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82B6-13BD-4788-876B-DA55307E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324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E5DE2-C2A8-413F-B224-E255C1E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18000"/>
                </a:solidFill>
              </a:defRPr>
            </a:pPr>
            <a:r>
              <a:rPr sz="1800" b="1" i="0">
                <a:solidFill>
                  <a:srgbClr val="B18000"/>
                </a:solidFill>
              </a:rPr>
              <a:t>2 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2FDA4-DAEB-4499-A651-D1ACE08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ViewModel or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controller validates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and coordinates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646E6-97EC-44EF-853D-2E5660C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324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D9F9B-C50D-4BBE-8DFB-13F4C49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</a:defRPr>
            </a:pPr>
            <a:r>
              <a:rPr sz="1800" b="1" i="0">
                <a:solidFill>
                  <a:srgbClr val="3D8DFF"/>
                </a:solidFill>
              </a:rPr>
              <a:t>3  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9ED73-0A18-4818-B609-72501C6A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Repository contract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expresses the use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5420A-BFAD-4705-ABF4-8AFEA237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24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9D33A-0CB8-4E19-A42A-D7AAF597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E7D32"/>
                </a:solidFill>
              </a:defRPr>
            </a:pPr>
            <a:r>
              <a:rPr sz="1800" b="1" i="0">
                <a:solidFill>
                  <a:srgbClr val="2E7D32"/>
                </a:solidFill>
              </a:rPr>
              <a:t>4 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31C5C-33F5-45DD-974D-336362C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Room / snapshot</a:t>
            </a:r>
          </a:p>
          <a:p xmlns:a="http://schemas.openxmlformats.org/drawingml/2006/main">
            <a:pPr algn="ctr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and Supabase adapters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1B752-7614-4A86-B744-3801B30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AD1B9-03EC-4ABA-B2F2-5354F0B9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62550"/>
            <a:ext cx="815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2147"/>
                </a:solidFill>
              </a:defRPr>
            </a:pPr>
            <a:r>
              <a:rPr sz="1575" b="1" i="0">
                <a:solidFill>
                  <a:srgbClr val="002147"/>
                </a:solidFill>
              </a:rPr>
              <a:t>Example: Save attendance → validate rows → repository save → PostgREST insert → local cache update</a:t>
            </a:r>
          </a:p>
        </p:txBody>
      </p:sp>
    </p:spTree>
    <p:extLst>
      <p:ext uri="{BB962C8B-B14F-4D97-AF65-F5344CB8AC3E}">
        <p14:creationId xmlns:p14="http://schemas.microsoft.com/office/powerpoint/2010/main" val="810875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57747-C670-4DB0-9D8F-BA9942F8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59725D1-5F96-4C8D-90FA-3513C9F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Shared backend, different caches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C2BFE-1C8E-4AEC-B7F2-EEB2D263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0704F-920C-424E-8C4C-55CBD8A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BC2C6-203B-42DB-A08C-34EEBA1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Architecture is shared at the domain and backend levels, not at every platform detail.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19887-AFC6-40E8-91AA-207DEF68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43175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64B51-2F6C-4916-AF25-70CAE0A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43175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5C745-484D-4199-8E1B-09B2F76F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6286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3104-306D-433D-A2BB-E1F0ED9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6 client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CB0B2-358B-47EB-A838-3135106F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209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core 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B80A1-8089-4C39-8170-B882D84C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209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platform repos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EA8DB-3233-41B1-A8F8-D08B732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Supabase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Auth • Postgres •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D2AA7-E7E3-4E6A-931B-0D198294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Mobile: Room v31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DAOs +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94E4-EEC4-4D1C-9138-38E8721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52850"/>
            <a:ext cx="295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Desktop: JSON snapshots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MutableStateFlow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0423A-427D-4C4A-B731-FC252329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same repository interfaces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A14DF-5DE4-4703-A3D7-CD0620D1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14950"/>
            <a:ext cx="937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2147"/>
                </a:solidFill>
              </a:defRPr>
            </a:pPr>
            <a:r>
              <a:rPr sz="1650" b="1" i="0">
                <a:solidFill>
                  <a:srgbClr val="002147"/>
                </a:solidFill>
              </a:rPr>
              <a:t>Mobile favors durable local tables. Desktop currently favors a lightweight reference-data snapshot.</a:t>
            </a:r>
          </a:p>
        </p:txBody>
      </p:sp>
    </p:spTree>
    <p:extLst>
      <p:ext uri="{BB962C8B-B14F-4D97-AF65-F5344CB8AC3E}">
        <p14:creationId xmlns:p14="http://schemas.microsoft.com/office/powerpoint/2010/main" val="620837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EF69F-1CB7-4237-87BA-7E717FD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D583A5B-A56B-4F70-A815-BD4B0F1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Login also resolves a domain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A7772-2E5E-4970-BE05-CA0B5BAA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1AFCB-1B4A-47E7-9D06-B5053B91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D6DF-18F6-4AC2-B5F1-CC66E63C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 valid token answers “who are you?”; role resolution answers “what may you do?”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AE71D-983E-4DC7-B4BF-A3DE5C7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960D6-B32A-4693-B6C0-8428D98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C6CBB-065C-4B50-ADAE-809A598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03280-3D90-4336-8334-8223CC5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9CCD5-DE15-4A02-89B2-B14293CF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E4EF5-935A-42A5-9E6A-DBC2DEED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33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B8075-4E65-4EEE-A293-A25C1417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33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Supabase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53152-8C40-4034-8DE8-0804F3E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133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Session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F0BA4-21AE-495D-B377-23A4C3A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133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Profile + teacher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EC31D-DF17-427D-942C-907BA444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133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UserRole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1F90D-FEB8-4E51-A8DA-636F9D51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33650"/>
            <a:ext cx="1085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Home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7F68D-2572-4080-84B1-1E170FFB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22B1D"/>
                </a:solidFill>
              </a:defRPr>
            </a:pPr>
            <a:r>
              <a:rPr sz="1575" b="1" i="0">
                <a:solidFill>
                  <a:srgbClr val="B22B1D"/>
                </a:solidFill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3E4B0-A6A8-4225-B4F6-C5E30F4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18000"/>
                </a:solidFill>
              </a:defRPr>
            </a:pPr>
            <a:r>
              <a:rPr sz="1575" b="1" i="0">
                <a:solidFill>
                  <a:srgbClr val="B18000"/>
                </a:solidFill>
              </a:rPr>
              <a:t>Teacher +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F166F-B75E-4AC6-BEA9-362DD1F7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E7D32"/>
                </a:solidFill>
              </a:defRPr>
            </a:pPr>
            <a:r>
              <a:rPr sz="1575" b="1" i="0">
                <a:solidFill>
                  <a:srgbClr val="2E7D32"/>
                </a:solidFill>
              </a:rPr>
              <a:t>Linked / unlinked student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C51F9-B2CE-424E-BB57-A721529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CE0CC-5DC1-47BF-9E7E-BDCA3A6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JWT is authentication evidence. The domain role still comes from application records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94622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3604A-C807-4B35-AE4F-5B87F0CA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D3F1F34-62DA-408C-8AB3-82248B8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Security works at two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5FF5E-1D9D-473A-8DBC-5508ACD0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609FE-D6FF-450B-84EB-CD5A5AA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EAC66-9255-4D32-9EB0-D759BDE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2578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56CBE-9A8C-43ED-8E51-778A2D27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52578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EBF70-8F4B-490A-B9C2-A6A3536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</a:defRPr>
            </a:pPr>
            <a:r>
              <a:rPr sz="1650" b="1" i="0">
                <a:solidFill>
                  <a:srgbClr val="3D8DFF"/>
                </a:solidFill>
              </a:rPr>
              <a:t>APPLICATION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3715-7982-4FDA-9A9C-D7E56F2B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</a:defRPr>
            </a:pPr>
            <a:r>
              <a:rPr sz="2025" b="1" i="0">
                <a:solidFill>
                  <a:srgbClr val="101820"/>
                </a:solidFill>
              </a:rPr>
              <a:t>Improves the user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84721-11E2-47C6-8619-A17021C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4196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Role-specific navigation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Teacher permission flags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Read-only screens for restricted roles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Validation before repository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5C3AA-248F-46DF-85F1-7CA33BCF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E7D32"/>
                </a:solidFill>
              </a:defRPr>
            </a:pPr>
            <a:r>
              <a:rPr sz="1650" b="1" i="0">
                <a:solidFill>
                  <a:srgbClr val="2E7D32"/>
                </a:solidFill>
              </a:rPr>
              <a:t>DATABASE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1EE1C-DF9D-47C7-A361-5807039A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648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</a:defRPr>
            </a:pPr>
            <a:r>
              <a:rPr sz="2025" b="1" i="0">
                <a:solidFill>
                  <a:srgbClr val="101820"/>
                </a:solidFill>
              </a:rPr>
              <a:t>Protects the data even if UI is bypassed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41313-175B-4093-97F3-522C764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4196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PostgreSQL Row-Level Security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Students see their own session and roll number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Teachers act only on assigned sessions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• Attendance has no admin write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B316F-4385-4FC1-8C27-8860E77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9120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22B1D"/>
                </a:solidFill>
              </a:defRPr>
            </a:pPr>
            <a:r>
              <a:rPr sz="1800" b="1" i="0">
                <a:solidFill>
                  <a:srgbClr val="B22B1D"/>
                </a:solidFill>
              </a:rPr>
              <a:t>Rule to remember: hiding a button is not security; RLS is the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08135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87B3F-4295-498C-B0BD-65D7D513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967693BF-176E-434C-A135-7B9D20E3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The schema mirrors college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6EE24-5F4B-4638-BFF9-78C94A6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7F8B0-4A05-4C12-BB52-B513DC57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785B-7F8D-4B48-89BF-90FFFF9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Foreign keys turn real academic ownership into enforceable database relationships.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31B4C-FFDF-4ECF-9812-A273335C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0512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15EF9-7A42-49AA-B5FC-CBD3BC8F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0512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920FD-A034-4BD7-89EE-E8C76BB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58E62-27BC-4E14-B9CA-05A08B5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0512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23960-99C2-482E-979F-B927136B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0512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E4D8B-2877-49A3-902F-0CEEC9F8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Department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dept_id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F0E7-D103-4B6C-A78F-D076469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Academic session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session_id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397C-914F-458D-85DC-57EC2538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Subjects + students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composite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4B713-702C-4B4B-A3EC-1ADC0315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Attendance + marks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session • course • 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B1EC5-46A3-423D-B47B-927B5F00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Fees + GPA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student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81E74-7D5F-4718-A7B4-E08C4D6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62200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Notices + calendar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audience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A5C46-F7CB-4D79-9312-1B58E77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0401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E9E7D-CB0C-4ED6-BB6B-233F5CFB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2147"/>
                </a:solidFill>
              </a:defRPr>
            </a:pPr>
            <a:r>
              <a:rPr sz="1800" b="1" i="0">
                <a:solidFill>
                  <a:srgbClr val="002147"/>
                </a:solidFill>
              </a:rPr>
              <a:t>Why composite keys?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55FD0-C820-4981-972E-1F0E77F6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7105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Attendance and marks are not owned by one generated number alone. Their identity comes from the session, course, date or exam, and roll number that define the real record.</a:t>
            </a:r>
          </a:p>
        </p:txBody>
      </p:sp>
    </p:spTree>
    <p:extLst>
      <p:ext uri="{BB962C8B-B14F-4D97-AF65-F5344CB8AC3E}">
        <p14:creationId xmlns:p14="http://schemas.microsoft.com/office/powerpoint/2010/main" val="991605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5DFD2-1C81-414E-930C-52FEDDD1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B6A9DE8-010E-49CF-AA81-F9A96AF5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The current SQL snapshot has 23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41B5B-3560-4BC1-BE36-B29E661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2A8B-FB9B-4D59-A176-A1288EA1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BBD8F-496C-491E-AFE9-7A9CB81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Remember the families first. Individual names become easier once their purpose is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8BD1D-E50D-4138-8294-46FBEB4C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9526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1B4AD-1EC5-41F1-877A-BF31AB70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533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D8DFF"/>
                </a:solidFill>
              </a:defRPr>
            </a:pPr>
            <a:r>
              <a:rPr sz="4350" b="1" i="0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4ECAB-5EFD-4170-A4A7-E5E6C5AF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33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</a:defRPr>
            </a:pPr>
            <a:r>
              <a:rPr sz="1500" b="1" i="0">
                <a:solidFill>
                  <a:srgbClr val="3D8DFF"/>
                </a:solidFill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9BAD4-5ECE-4F93-83DF-3274330F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533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profiles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teachers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275B9-0FC1-4C77-B6B1-24B4C75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76450"/>
            <a:ext cx="19526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D4107-AB30-400D-977C-08A3930A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533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02147"/>
                </a:solidFill>
              </a:defRPr>
            </a:pPr>
            <a:r>
              <a:rPr sz="4350" b="1" i="0">
                <a:solidFill>
                  <a:srgbClr val="002147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D5CF8-2F5E-44C2-992E-B7A3DE4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533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2147"/>
                </a:solidFill>
              </a:defRPr>
            </a:pPr>
            <a:r>
              <a:rPr sz="1500" b="1" i="0">
                <a:solidFill>
                  <a:srgbClr val="002147"/>
                </a:solidFill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82B51-21F2-4D47-81C2-DB3819E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1533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departments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sessions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subjects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terms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BBE0F-5DE6-4122-9466-863C780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19526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4DCBE-D109-44D4-B485-A09B0FD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1533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B18000"/>
                </a:solidFill>
              </a:defRPr>
            </a:pPr>
            <a:r>
              <a:rPr sz="4350" b="1" i="0">
                <a:solidFill>
                  <a:srgbClr val="B18000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660AD-272A-431F-BD47-26119C35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1533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18000"/>
                </a:solidFill>
              </a:defRPr>
            </a:pPr>
            <a:r>
              <a:rPr sz="1500" b="1" i="0">
                <a:solidFill>
                  <a:srgbClr val="B18000"/>
                </a:solidFill>
              </a:rPr>
              <a:t>SCHEDULING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C98ED-17D5-4596-A0F3-0FBBE69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1533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timetable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period links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datesheets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slots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calendar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A2777-CD4C-4231-87EC-B4D0679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223837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182A8-0055-4906-B8A7-3EEF1BE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1819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B22B1D"/>
                </a:solidFill>
              </a:defRPr>
            </a:pPr>
            <a:r>
              <a:rPr sz="4350" b="1" i="0">
                <a:solidFill>
                  <a:srgbClr val="B22B1D"/>
                </a:solidFill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AA7FD-333C-4964-9367-3F2FD31C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819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22B1D"/>
                </a:solidFill>
              </a:defRPr>
            </a:pPr>
            <a:r>
              <a:rPr sz="1500" b="1" i="0">
                <a:solidFill>
                  <a:srgbClr val="B22B1D"/>
                </a:solidFill>
              </a:rPr>
              <a:t>ASSESSMENT + FEES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9A7D1-C8B8-4119-AAFE-54CCBE5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8192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attendance • marks • GPA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fees • heads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overrides • fines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F407B-8C32-4DE2-9D28-4A725F13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2381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D3D26-0790-4A21-BE91-7C1AA47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E7D32"/>
                </a:solidFill>
              </a:defRPr>
            </a:pPr>
            <a:r>
              <a:rPr sz="4350" b="1" i="0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040C1-2A35-4DC5-B60C-D2657057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E7D32"/>
                </a:solidFill>
              </a:defRPr>
            </a:pPr>
            <a:r>
              <a:rPr sz="1500" b="1" i="0">
                <a:solidFill>
                  <a:srgbClr val="2E7D32"/>
                </a:solidFill>
              </a:rPr>
              <a:t>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68440-52AE-4D63-8734-169CA99A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1962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documents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exam papers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link requests</a:t>
            </a:r>
          </a:p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notifications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A5A5B9-4E8D-483E-BDDF-F0F81EF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293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59636E"/>
                </a:solidFill>
              </a:defRPr>
            </a:pPr>
            <a:r>
              <a:rPr sz="1500" b="0" i="1">
                <a:solidFill>
                  <a:srgbClr val="59636E"/>
                </a:solidFill>
              </a:rPr>
              <a:t>Counts describe the checked-in migration snapshot, not a permanent schema promise.</a:t>
            </a:r>
          </a:p>
        </p:txBody>
      </p:sp>
    </p:spTree>
    <p:extLst>
      <p:ext uri="{BB962C8B-B14F-4D97-AF65-F5344CB8AC3E}">
        <p14:creationId xmlns:p14="http://schemas.microsoft.com/office/powerpoint/2010/main" val="365332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26008-6D33-4733-AF68-F5739319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119BEF12-9AB1-4701-BD0D-FB2DF8B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The sync design depends on audit fields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28C2F-234D-4BE2-ABEE-BB905A4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62537-CEDC-4AFF-B2B1-97D95CC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A856F-6040-458F-BDD5-36BEE323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 client can fetch changes only if each mutable row records when it changed and whether it was deleted.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E124-8160-4A98-ABAC-1744E0AF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376E-D168-42F0-81DA-9AFC6F3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</a:defRPr>
            </a:pPr>
            <a:r>
              <a:rPr sz="1650" b="1" i="0">
                <a:solidFill>
                  <a:srgbClr val="3D8DFF"/>
                </a:solidFill>
              </a:rPr>
              <a:t>entity_id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4CCE-D983-4CC7-956F-EF14AFB1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stable tie-breaker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5206-986E-4583-A31D-3587CEF9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6F411-58FD-4E89-B087-4238802F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2147"/>
                </a:solidFill>
              </a:defRPr>
            </a:pPr>
            <a:r>
              <a:rPr sz="1650" b="1" i="0">
                <a:solidFill>
                  <a:srgbClr val="002147"/>
                </a:solidFill>
              </a:rPr>
              <a:t>created_at / 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675B-48ED-4344-8B99-6E6B8B6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origin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B83F0-981B-4C4F-B0A1-A09E1EE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4B9C9-07F8-4C2E-B3FB-F5B5268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18000"/>
                </a:solidFill>
              </a:defRPr>
            </a:pPr>
            <a:r>
              <a:rPr sz="1650" b="1" i="0">
                <a:solidFill>
                  <a:srgbClr val="B18000"/>
                </a:solidFill>
              </a:rPr>
              <a:t>updated_at /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74E05-EBE9-42CD-8291-34CF1FFC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48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change cursor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450C7-168C-479D-A3F7-F9428F61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24100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BF87F-5CC3-4430-A23A-25B65EA0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22B1D"/>
                </a:solidFill>
              </a:defRPr>
            </a:pPr>
            <a:r>
              <a:rPr sz="1650" b="1" i="0">
                <a:solidFill>
                  <a:srgbClr val="B22B1D"/>
                </a:solidFill>
              </a:rPr>
              <a:t>is_deleted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95EA8-BC73-4822-8A0B-8133AA1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tombstone flag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1F96F-9630-416A-8624-6F9E3CAF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EE530-9BB8-4B06-A88D-49388F7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E7D32"/>
                </a:solidFill>
              </a:defRPr>
            </a:pPr>
            <a:r>
              <a:rPr sz="1650" b="1" i="0">
                <a:solidFill>
                  <a:srgbClr val="2E7D32"/>
                </a:solidFill>
              </a:rPr>
              <a:t>deleted_at / by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0AE85-01C6-4426-BDD7-FB12BCC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deletion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001F5-61EF-447A-935C-254EA38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028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40C67-620B-48CC-8C68-89107E5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22B1D"/>
                </a:solidFill>
              </a:defRPr>
            </a:pPr>
            <a:r>
              <a:rPr sz="1950" b="1" i="0">
                <a:solidFill>
                  <a:srgbClr val="B22B1D"/>
                </a:solidFill>
              </a:rPr>
              <a:t>Tombstone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36E63-FDE8-444E-95AE-39FC715F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The server keeps a deletion marker long enough for every client to learn that the row must disappear locally. Hard deletion would leave offline copies behind.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82879-1A4D-4629-8010-7F521D2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22B1D"/>
                </a:solidFill>
              </a:defRPr>
            </a:pPr>
            <a:r>
              <a:rPr sz="1500" b="1" i="0">
                <a:solidFill>
                  <a:srgbClr val="B22B1D"/>
                </a:solidFill>
              </a:rPr>
              <a:t>Repository warning: the client code expects these fields, but the checked-in Supabase migrations are not fully aligned yet.</a:t>
            </a:r>
          </a:p>
        </p:txBody>
      </p:sp>
    </p:spTree>
    <p:extLst>
      <p:ext uri="{BB962C8B-B14F-4D97-AF65-F5344CB8AC3E}">
        <p14:creationId xmlns:p14="http://schemas.microsoft.com/office/powerpoint/2010/main" val="446025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125E7-10D3-431F-8A57-75B6EED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D73DAE74-033C-46F2-A886-0670EBDC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Attendance reads local, then saves remote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392E9-E227-439B-9266-4A7A7BC2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2FF8F-ACF9-4E82-89FE-57034CA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dc6f8f3144d0b"/>
          <a:stretch xmlns:a="http://schemas.openxmlformats.org/drawingml/2006/main"/>
        </p:blipFill>
        <p:spPr>
          <a:xfrm xmlns:a="http://schemas.openxmlformats.org/drawingml/2006/main">
            <a:off x="1764833" y="1524000"/>
            <a:ext cx="8662334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9325-A8F9-469C-9630-1C0E306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0250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40CBA-E3DA-46FA-B5A6-84D1D17B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53125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Offline-first roster display; online-confirmed write; local cache updates only after success.</a:t>
            </a:r>
          </a:p>
        </p:txBody>
      </p:sp>
    </p:spTree>
    <p:extLst>
      <p:ext uri="{BB962C8B-B14F-4D97-AF65-F5344CB8AC3E}">
        <p14:creationId xmlns:p14="http://schemas.microsoft.com/office/powerpoint/2010/main" val="1063327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17129-E8E0-4099-8E65-2151E30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BAAFF169-02A0-4656-A8E0-4948F92D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Marks edits follow an approval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F693E-68C0-4CB3-9B69-FFBCC88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CA55C-91DB-4718-B0F3-8936D9C7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6c42aaec04c00"/>
          <a:stretch xmlns:a="http://schemas.openxmlformats.org/drawingml/2006/main"/>
        </p:blipFill>
        <p:spPr>
          <a:xfrm xmlns:a="http://schemas.openxmlformats.org/drawingml/2006/main">
            <a:off x="2422544" y="1466850"/>
            <a:ext cx="7346912" cy="4438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4F876-8F33-4378-A1D1-A572B095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4360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22B1D"/>
                </a:solidFill>
              </a:defRPr>
            </a:pPr>
            <a:r>
              <a:rPr sz="1575" b="1" i="0">
                <a:solidFill>
                  <a:srgbClr val="B22B1D"/>
                </a:solidFill>
              </a:rPr>
              <a:t>First entry is simple. A later correction becomes an auditable request instead of an invisible overwrite.</a:t>
            </a:r>
          </a:p>
        </p:txBody>
      </p:sp>
    </p:spTree>
    <p:extLst>
      <p:ext uri="{BB962C8B-B14F-4D97-AF65-F5344CB8AC3E}">
        <p14:creationId xmlns:p14="http://schemas.microsoft.com/office/powerpoint/2010/main" val="1893721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B58B3-AD4C-4370-83C8-A507598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E35AF75A-B6BE-4017-A98A-EEACA87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Student linking protects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D0F0B-BAAC-4F46-977F-88E2286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75806-4603-48DE-82B3-1FF1E64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1B445-B27D-476F-A780-33726C55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An authenticated email is not automatically trusted as a particular roll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1D7F1-0EB9-4501-A8F4-1A3752C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71800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BBCCF-16AE-4EF1-81FA-1CA2B30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BAAF-C89F-424B-B8D9-3CC6A574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D8766-5EBE-47A6-9A75-0AE910E5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476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6D3EB-F569-472E-861C-BD0D7CA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638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Register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Supabase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38B9-4C53-4420-AA26-2FCDB49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1638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Unlinked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limited student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824C0-A78B-4788-8A9D-B0AE4C0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1638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Request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identity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08AC-D94B-41ED-9A49-23A997C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1638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Review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admin or permitted teacher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796E6-7E4A-4FB9-A28A-36DE09D0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638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Linked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session + roll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1B7E-3AE9-4131-993E-5227D67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937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7ECD-2132-463C-8B3C-5AA469F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E7D32"/>
                </a:solidFill>
              </a:defRPr>
            </a:pPr>
            <a:r>
              <a:rPr sz="1800" b="1" i="0">
                <a:solidFill>
                  <a:srgbClr val="2E7D32"/>
                </a:solidFill>
              </a:rPr>
              <a:t>Security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03508-447B-4A78-A42B-D189AED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651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Only an approved link lets RLS match auth.uid() to the student’s session and roll number. Until then, the account remains intentionally unlinked.</a:t>
            </a:r>
          </a:p>
        </p:txBody>
      </p:sp>
    </p:spTree>
    <p:extLst>
      <p:ext uri="{BB962C8B-B14F-4D97-AF65-F5344CB8AC3E}">
        <p14:creationId xmlns:p14="http://schemas.microsoft.com/office/powerpoint/2010/main" val="15543165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937A5E-2AC8-42E1-B6F0-9507F12B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D1D8CB9F-066A-459C-AEAE-CB05178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Caching differs by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6D9CD-1985-44F1-8A8B-B5CA8E66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9175E-E08A-4654-921D-497288E5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0014-8DD7-4CCC-BAFF-4ADD3BD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E7D32"/>
                </a:solidFill>
              </a:defRPr>
            </a:pPr>
            <a:r>
              <a:rPr sz="1800" b="1" i="0">
                <a:solidFill>
                  <a:srgbClr val="2E7D32"/>
                </a:solidFill>
              </a:rPr>
              <a:t>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9BEED-60C1-49DA-98F9-6376900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18000"/>
                </a:solidFill>
              </a:defRPr>
            </a:pPr>
            <a:r>
              <a:rPr sz="1800" b="1" i="0">
                <a:solidFill>
                  <a:srgbClr val="B18000"/>
                </a:solidFill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F44E4-ADF5-4007-B0D3-12A5745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2147"/>
                </a:solidFill>
              </a:defRPr>
            </a:pPr>
            <a:r>
              <a:rPr sz="1425" b="1" i="0">
                <a:solidFill>
                  <a:srgbClr val="002147"/>
                </a:solidFill>
              </a:rPr>
              <a:t>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1197-C4C7-43C3-B7F7-15326FB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145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0CFC5-2624-4C42-BE09-64D8FCA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574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Room database v31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CDCB4-D58B-4C00-BA54-43CC9E9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25FF4-613C-42C8-A535-D7E3123A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JSON files under app 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5B9BB-AF63-4007-AA96-A4A9BCD8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2147"/>
                </a:solidFill>
              </a:defRPr>
            </a:pPr>
            <a:r>
              <a:rPr sz="1425" b="1" i="0">
                <a:solidFill>
                  <a:srgbClr val="002147"/>
                </a:solidFill>
              </a:rPr>
              <a:t>Reactive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A413A-8BCD-4BC5-A7BE-B8B0D64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5BC45-14FC-4FE8-B6B1-77B71020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003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DAO + Kotlin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49DFE-5100-4B07-A1A3-78B54252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448C-6E8C-41B3-9C73-EF753B0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MutableStateFlow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FBB79-9F28-4057-9D63-A69B602C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2147"/>
                </a:solidFill>
              </a:defRPr>
            </a:pPr>
            <a:r>
              <a:rPr sz="1425" b="1" i="0">
                <a:solidFill>
                  <a:srgbClr val="002147"/>
                </a:solidFill>
              </a:rPr>
              <a:t>Refresh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DBB88-A2D9-40ED-AA89-673C30A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AD84B-4842-4A82-BB60-0993F16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43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updated_at checkpoint deltas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265B1-6228-49E3-AE4F-C20863E4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FB35F-05E5-402D-BAA3-7209331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full refresh per requested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3FAAF-3954-463E-91DB-EF5665D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2147"/>
                </a:solidFill>
              </a:defRPr>
            </a:pPr>
            <a:r>
              <a:rPr sz="1425" b="1" i="0">
                <a:solidFill>
                  <a:srgbClr val="002147"/>
                </a:solidFill>
              </a:rPr>
              <a:t>Deletion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6D0E4-70F6-4EC1-9FE6-D04D225B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57EB7-BE52-4527-8955-B69BC1D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86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tombstone → applyDelta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F1E6D-6EDF-437F-AABC-A2351BC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EE17F-6B48-40D6-AEB8-F7F3CA6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86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server filters deleted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72588-113F-4C9F-A3E6-25B9667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2147"/>
                </a:solidFill>
              </a:defRPr>
            </a:pPr>
            <a:r>
              <a:rPr sz="1425" b="1" i="0">
                <a:solidFill>
                  <a:srgbClr val="002147"/>
                </a:solidFill>
              </a:rPr>
              <a:t>Offline breadth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A9819-6BA5-45E2-9290-9161E1B7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1B437-1FF2-4466-9BE7-9762A81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292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many feature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5A1DE-2F71-4DB6-B4F9-4071ED0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863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63374-8406-4C61-A00A-FCCA4F8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292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reference data snapshots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2C291-DF70-421F-9DDB-0ADBF63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19800"/>
            <a:ext cx="872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22B1D"/>
                </a:solidFill>
              </a:defRPr>
            </a:pPr>
            <a:r>
              <a:rPr sz="1650" b="1" i="0">
                <a:solidFill>
                  <a:srgbClr val="B22B1D"/>
                </a:solidFill>
              </a:rPr>
              <a:t>Same repository interfaces; different durability and synchronization guarantees.</a:t>
            </a:r>
          </a:p>
        </p:txBody>
      </p:sp>
    </p:spTree>
    <p:extLst>
      <p:ext uri="{BB962C8B-B14F-4D97-AF65-F5344CB8AC3E}">
        <p14:creationId xmlns:p14="http://schemas.microsoft.com/office/powerpoint/2010/main" val="12227621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798C4-FFB2-45FE-9262-A7CC0CA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370AEBE3-4D21-41B6-B549-A130E6C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Mobile sync fetches only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14376-DEC1-41BB-B2EC-6C9DBF8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0E18D-77CC-49DD-BE59-AB11EDA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EE3B9-FF3C-41FC-B0D5-76EA711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The checkpoint changes a full-table download into a repeatable delta query.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b3aeebcb24de5"/>
          <a:stretch xmlns:a="http://schemas.openxmlformats.org/drawingml/2006/main"/>
        </p:blipFill>
        <p:spPr>
          <a:xfrm xmlns:a="http://schemas.openxmlformats.org/drawingml/2006/main">
            <a:off x="4152718" y="17907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30F7E-7664-42CB-A696-69F865EB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60807-0E83-4B65-A333-6730430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A9AF2-3989-43EB-8A8C-9F6DB38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</a:defRPr>
            </a:pPr>
            <a:r>
              <a:rPr sz="1800" b="1" i="0">
                <a:solidFill>
                  <a:srgbClr val="101820"/>
                </a:solidFill>
              </a:rPr>
              <a:t>Read 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2A676-68EF-406F-89D6-ED69A00A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36E"/>
                </a:solidFill>
              </a:defRPr>
            </a:pPr>
            <a:r>
              <a:rPr sz="1350" b="0" i="0">
                <a:solidFill>
                  <a:srgbClr val="59636E"/>
                </a:solidFill>
              </a:rPr>
              <a:t>owner + table +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E2B42-BE16-4529-8D46-3388F2AE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B0DE7-8029-404A-8B2C-12A30EA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5DC80-08B9-49A3-B1E2-E0BCA17D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</a:defRPr>
            </a:pPr>
            <a:r>
              <a:rPr sz="1800" b="1" i="0">
                <a:solidFill>
                  <a:srgbClr val="101820"/>
                </a:solidFill>
              </a:rPr>
              <a:t>Query changed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9A617-4E7B-4FE6-BCA8-258058A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36E"/>
                </a:solidFill>
              </a:defRPr>
            </a:pPr>
            <a:r>
              <a:rPr sz="1350" b="0" i="0">
                <a:solidFill>
                  <a:srgbClr val="59636E"/>
                </a:solidFill>
              </a:rPr>
              <a:t>updated_at &gt;= cursor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9ECF6-2320-47CA-B72C-EE4D1A6F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B1D"/>
          </a:solidFill>
          <a:ln xmlns:a="http://schemas.openxmlformats.org/drawingml/2006/main" w="0">
            <a:solidFill>
              <a:srgbClr val="B22B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04890-2B43-4B2E-910C-59EB274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A17EA-A693-42EC-BA35-009554AE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</a:defRPr>
            </a:pPr>
            <a:r>
              <a:rPr sz="1800" b="1" i="0">
                <a:solidFill>
                  <a:srgbClr val="101820"/>
                </a:solidFill>
              </a:rPr>
              <a:t>Apply delta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BBC76-27B1-4ACB-9F96-0EB4E8C2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36E"/>
                </a:solidFill>
              </a:defRPr>
            </a:pPr>
            <a:r>
              <a:rPr sz="1350" b="0" i="0">
                <a:solidFill>
                  <a:srgbClr val="59636E"/>
                </a:solidFill>
              </a:rPr>
              <a:t>upsert active; remove tombstones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2E8D6-DE5A-44A2-9783-162B0AE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DBBCA-ADD9-48CB-8590-77DB774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A2E1E-C5B5-452E-B931-776C994F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</a:defRPr>
            </a:pPr>
            <a:r>
              <a:rPr sz="1800" b="1" i="0">
                <a:solidFill>
                  <a:srgbClr val="101820"/>
                </a:solidFill>
              </a:rPr>
              <a:t>Advance checkpoint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1C361-DEB8-4A9E-A31C-85DE6A1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36E"/>
                </a:solidFill>
              </a:defRPr>
            </a:pPr>
            <a:r>
              <a:rPr sz="1350" b="0" i="0">
                <a:solidFill>
                  <a:srgbClr val="59636E"/>
                </a:solidFill>
              </a:rPr>
              <a:t>only after the page loop succeeds</a:t>
            </a:r>
          </a:p>
        </p:txBody>
      </p:sp>
    </p:spTree>
    <p:extLst>
      <p:ext uri="{BB962C8B-B14F-4D97-AF65-F5344CB8AC3E}">
        <p14:creationId xmlns:p14="http://schemas.microsoft.com/office/powerpoint/2010/main" val="15042205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A5524-2D0C-4A78-81E3-165D2EF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131B36CA-4982-427C-B253-EACDE498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Checkpoints are owner, table,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80F2-A726-45CD-8AE8-5908B8E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920A0-6A25-4D6D-AFAA-AA75452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378D1-F37D-47AC-B482-635B44B6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 single global timestamp would mix users, datasets, and partial views.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A2B3E-C43D-4C15-B3B3-0FDCA54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744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3E134-90A6-4C30-B570-9E5DBE98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teacher@college.edu  |  session_students  |  session=IT-2022-E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C4F25-7C70-42D2-96BA-4D7E8DE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A5417-112E-463D-8F67-B22EC9D0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</a:defRPr>
            </a:pPr>
            <a:r>
              <a:rPr sz="1650" b="1" i="0">
                <a:solidFill>
                  <a:srgbClr val="3D8DFF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E3A87-B1F1-409E-91C7-5622F89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prevents one account</a:t>
            </a:r>
          </a:p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reusing another 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6CCCB-DCBE-4873-ADE8-9AC84B3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100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7D431-FF92-4AAC-9A46-6C92DC8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18000"/>
                </a:solidFill>
              </a:defRPr>
            </a:pPr>
            <a:r>
              <a:rPr sz="1650" b="1" i="0">
                <a:solidFill>
                  <a:srgbClr val="B18000"/>
                </a:solidFill>
              </a:rPr>
              <a:t>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AC0CF-8861-430A-B3CB-580723D4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each dataset moves</a:t>
            </a:r>
          </a:p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at its own 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9EA4B-12F6-4663-8A28-5381B08F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1000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0B7D5-A520-4E5F-B4BA-0705A9E4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576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E7D32"/>
                </a:solidFill>
              </a:defRPr>
            </a:pPr>
            <a:r>
              <a:rPr sz="1650" b="1" i="0">
                <a:solidFill>
                  <a:srgbClr val="2E7D32"/>
                </a:solidFill>
              </a:rPr>
              <a:t>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48A98-2930-4598-AA33-1214454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department or session</a:t>
            </a:r>
          </a:p>
          <a:p xmlns:a="http://schemas.openxmlformats.org/drawingml/2006/main">
            <a:pPr algn="ctr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can sync independently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ABEA9-6815-485C-B80B-0ED480E6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22B1D"/>
                </a:solidFill>
              </a:defRPr>
            </a:pPr>
            <a:r>
              <a:rPr sz="1500" b="1" i="0">
                <a:solidFill>
                  <a:srgbClr val="B22B1D"/>
                </a:solidFill>
              </a:rPr>
              <a:t>startup sync_state answers “did bootstrap finish?”  •  table_sync_state answers “where does this dataset continue?”</a:t>
            </a:r>
          </a:p>
        </p:txBody>
      </p:sp>
    </p:spTree>
    <p:extLst>
      <p:ext uri="{BB962C8B-B14F-4D97-AF65-F5344CB8AC3E}">
        <p14:creationId xmlns:p14="http://schemas.microsoft.com/office/powerpoint/2010/main" val="18341882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484DF-5186-42FE-A3B6-CF31EC4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DF42E1FD-4C9E-4B02-B3B0-8D75E84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Inclusive cursors avoid missed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156A-AC9D-46FC-8700-B5C83D7D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68B20-CCED-4A16-BC59-8F374491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82A45-591E-4D5B-A7D8-0B1078A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The query intentionally overlaps the previous boundary: updated_at &gt;= cursor.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62AB0-42E6-4DB6-A9F6-DA7F884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09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9D1A-ABB8-42EC-9EDF-2059179C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5F56F-898D-483D-8E47-8BB587A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6122-3199-4952-BD5B-D8924C9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</a:defRPr>
            </a:pPr>
            <a:r>
              <a:rPr sz="1350" b="1" i="0">
                <a:solidFill>
                  <a:srgbClr val="3D8DFF"/>
                </a:solidFill>
              </a:rPr>
              <a:t>10:00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3B46E-0E26-4FF7-AD2F-1EA94B96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B4BB-1D4B-4FC4-83C0-DF5E2679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EFFD2-A85F-4017-98BC-F7BB7AD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18000"/>
                </a:solidFill>
              </a:defRPr>
            </a:pPr>
            <a:r>
              <a:rPr sz="1350" b="1" i="0">
                <a:solidFill>
                  <a:srgbClr val="B18000"/>
                </a:solidFill>
              </a:rPr>
              <a:t>10:05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C0B21-BB12-4A32-80A1-46278ED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7D3BD-C193-4027-BE74-07BB920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8E0B5-39D2-4361-8541-882D9AF6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18000"/>
                </a:solidFill>
              </a:defRPr>
            </a:pPr>
            <a:r>
              <a:rPr sz="1350" b="1" i="0">
                <a:solidFill>
                  <a:srgbClr val="B18000"/>
                </a:solidFill>
              </a:rPr>
              <a:t>10:05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801CA-F912-408A-B770-52C29C9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FBB4B-5434-4B5A-9A7E-556F9F7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B9BA3-6401-48ED-908C-842B1CE0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</a:defRPr>
            </a:pPr>
            <a:r>
              <a:rPr sz="1350" b="1" i="0">
                <a:solidFill>
                  <a:srgbClr val="3D8DFF"/>
                </a:solidFill>
              </a:rPr>
              <a:t>10:08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D6623-FB4D-4E6C-A433-C419BE3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0FF18-A2CC-42AC-9227-89DE888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85157-26A7-496B-9F8A-308E808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</a:defRPr>
            </a:pPr>
            <a:r>
              <a:rPr sz="1350" b="1" i="0">
                <a:solidFill>
                  <a:srgbClr val="3D8DFF"/>
                </a:solidFill>
              </a:rPr>
              <a:t>10:12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84162-E52B-4D11-9942-3332401C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34290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22B1D"/>
          </a:solidFill>
          <a:ln xmlns:a="http://schemas.openxmlformats.org/drawingml/2006/main" w="0">
            <a:solidFill>
              <a:srgbClr val="B22B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BD83D-AD87-4939-B5FB-4BE4BC2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22B1D"/>
                </a:solidFill>
              </a:defRPr>
            </a:pPr>
            <a:r>
              <a:rPr sz="1350" b="1" i="0">
                <a:solidFill>
                  <a:srgbClr val="B22B1D"/>
                </a:solidFill>
              </a:rPr>
              <a:t>saved cursor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9CB01-3235-4C44-8B9D-EBF70807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4953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732ED-3258-4519-A679-C616D0A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E7D32"/>
                </a:solidFill>
              </a:defRPr>
            </a:pPr>
            <a:r>
              <a:rPr sz="1800" b="1" i="0">
                <a:solidFill>
                  <a:srgbClr val="2E7D32"/>
                </a:solidFill>
              </a:rPr>
              <a:t>Benefit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A4972-8FD9-42EE-A679-97651F8D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Rows B and C share the boundary timestamp. Re-reading the boundary avoids skipping 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DA812-74DE-406B-86AC-DADAD4A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4953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843F7-FA48-43FD-A636-9CB80B1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18000"/>
                </a:solidFill>
              </a:defRPr>
            </a:pPr>
            <a:r>
              <a:rPr sz="1800" b="1" i="0">
                <a:solidFill>
                  <a:srgbClr val="B18000"/>
                </a:solidFill>
              </a:rPr>
              <a:t>Tradeoff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169C6D-7F6C-4E0C-97DD-104F11CA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</a:defRPr>
            </a:pPr>
            <a:r>
              <a:rPr sz="1575" b="0" i="0">
                <a:solidFill>
                  <a:srgbClr val="101820"/>
                </a:solidFill>
              </a:rPr>
              <a:t>Some rows repeat. Idempotent upsert/applyDelta makes the overlap safe.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F2AF88-2864-492F-B86B-1097836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48350"/>
            <a:ext cx="803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2147"/>
                </a:solidFill>
              </a:defRPr>
            </a:pPr>
            <a:r>
              <a:rPr sz="1575" b="1" i="0">
                <a:solidFill>
                  <a:srgbClr val="002147"/>
                </a:solidFill>
              </a:rPr>
              <a:t>Pages are ordered by updated_at and fetched in batches of 500.</a:t>
            </a:r>
          </a:p>
        </p:txBody>
      </p:sp>
    </p:spTree>
    <p:extLst>
      <p:ext uri="{BB962C8B-B14F-4D97-AF65-F5344CB8AC3E}">
        <p14:creationId xmlns:p14="http://schemas.microsoft.com/office/powerpoint/2010/main" val="15542251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8B052-94F5-4D7B-8247-E1768162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0873BBDD-812C-4E4C-89F0-C5289E6E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Know what is built—and what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69FE8-7C15-46B4-BCAB-3318616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5947-685C-417E-95AF-37EFE72F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94C5-13FB-42C3-B9A4-DFEA805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36E"/>
                </a:solidFill>
              </a:defRPr>
            </a:pPr>
            <a:r>
              <a:rPr sz="1725" b="0" i="0">
                <a:solidFill>
                  <a:srgbClr val="59636E"/>
                </a:solidFill>
              </a:rPr>
              <a:t>A strong viva answer separates implemented client logic from end-to-end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51BEA-73AC-4DE3-B4FC-FB972499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3314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47D6A-1855-4F5D-81BF-AA93F446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E7D32"/>
                </a:solidFill>
              </a:defRPr>
            </a:pPr>
            <a:r>
              <a:rPr sz="1500" b="1" i="0">
                <a:solidFill>
                  <a:srgbClr val="2E7D32"/>
                </a:solidFill>
              </a:rPr>
              <a:t>BUILT IN CLIENT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3CE2-0779-4E79-BC68-F3987B7D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7813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Room v31 checkpoint table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table + scope cursor store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inclusive paged queries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active/deleted delta partition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614FE-3098-4A00-A59F-DF627A3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3314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E855D-DA39-45E6-A38D-707E6C8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18000"/>
                </a:solidFill>
              </a:defRPr>
            </a:pPr>
            <a:r>
              <a:rPr sz="1500" b="1" i="0">
                <a:solidFill>
                  <a:srgbClr val="B18000"/>
                </a:solidFill>
              </a:rPr>
              <a:t>CURRENT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1BBF2-447E-41CA-B9DA-653F8EA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27813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JSON reference snapshots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MutableStateFlow caches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full scoped refresh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no SQLDelight checkpoint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4B437-ECC8-47DF-B38C-51FE815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314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E2"/>
          </a:solidFill>
          <a:ln xmlns:a="http://schemas.openxmlformats.org/drawingml/2006/main" w="9525">
            <a:solidFill>
              <a:srgbClr val="B22B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B9AD9-370A-4812-B071-D354BA7E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22B1D"/>
                </a:solidFill>
              </a:defRPr>
            </a:pPr>
            <a:r>
              <a:rPr sz="1500" b="1" i="0">
                <a:solidFill>
                  <a:srgbClr val="B22B1D"/>
                </a:solidFill>
              </a:rPr>
              <a:t>STILL NEEDS ALIGNMENT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A96CA-EFBC-4687-B819-F8FEB0D6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27813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Remote entity_id fields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remote soft-delete columns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mark_edit_requests migration</a:t>
            </a:r>
          </a:p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• end-to-end tests and builds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DCB3F-B898-4B1C-A3AE-AA7B4B4A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994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2147"/>
                </a:solidFill>
              </a:defRPr>
            </a:pPr>
            <a:r>
              <a:rPr sz="1500" b="1" i="0">
                <a:solidFill>
                  <a:srgbClr val="002147"/>
                </a:solidFill>
              </a:rPr>
              <a:t>Honest wording: “the mobile incremental pipeline exists, but the checked-in backend schema and desktop path are not yet fully aligned.”</a:t>
            </a:r>
          </a:p>
        </p:txBody>
      </p:sp>
    </p:spTree>
    <p:extLst>
      <p:ext uri="{BB962C8B-B14F-4D97-AF65-F5344CB8AC3E}">
        <p14:creationId xmlns:p14="http://schemas.microsoft.com/office/powerpoint/2010/main" val="15579404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420B5-3C3E-4EBE-9C65-8E2AD4BF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18BB6FF9-45DA-46C9-A925-8E0FCB98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Define these terms in one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737CC-C4A0-44C0-B76F-935D8BE0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48EC7-27DB-49F5-BD64-9126453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1CB28-93BA-4164-890F-CC1CA6B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22B1D"/>
                </a:solidFill>
              </a:defRPr>
            </a:pPr>
            <a:r>
              <a:rPr sz="1725" b="1" i="0">
                <a:solidFill>
                  <a:srgbClr val="B22B1D"/>
                </a:solidFill>
              </a:rPr>
              <a:t>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F8267-5FC2-494B-9899-35DC4DC1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domain-facing data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188DD-22C0-4B0E-B776-762F874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FAC50-FF06-4B52-8CA0-846BCB6B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18000"/>
                </a:solidFill>
              </a:defRPr>
            </a:pPr>
            <a:r>
              <a:rPr sz="1725" b="1" i="0">
                <a:solidFill>
                  <a:srgbClr val="B18000"/>
                </a:solidFill>
              </a:rPr>
              <a:t>DTO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225E-19BD-4978-87AD-CD49ADB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52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remote payload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CA0C2-8026-4C8B-9025-5D2BC11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54F0E-C34A-4365-829A-25126F6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</a:defRPr>
            </a:pPr>
            <a:r>
              <a:rPr sz="1725" b="1" i="0">
                <a:solidFill>
                  <a:srgbClr val="3D8DFF"/>
                </a:solidFill>
              </a:rPr>
              <a:t>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B8C7F-7A90-47AB-A10B-1CD696F1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locally stored row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28ED8-9608-4D74-8FD6-2A8993D5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B6796-000D-4660-A879-26A3EC8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22B1D"/>
                </a:solidFill>
              </a:defRPr>
            </a:pPr>
            <a:r>
              <a:rPr sz="1725" b="1" i="0">
                <a:solidFill>
                  <a:srgbClr val="B22B1D"/>
                </a:solidFill>
              </a:rPr>
              <a:t>DAO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AC92-A588-4489-988A-9626AE1B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typed Room database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F5F1E-C8E9-4B4D-B5C0-F4234C3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6E71-F247-4C7D-84C2-E3B71075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18000"/>
                </a:solidFill>
              </a:defRPr>
            </a:pPr>
            <a:r>
              <a:rPr sz="1725" b="1" i="0">
                <a:solidFill>
                  <a:srgbClr val="B18000"/>
                </a:solidFill>
              </a:rPr>
              <a:t>RLS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EC654-353B-41BC-91E6-1A0C7BD5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row rules enforced by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F0175-8E3A-4604-8123-DFC7672A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864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914AB-BCB9-49B3-A1E6-3AA28F8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</a:defRPr>
            </a:pPr>
            <a:r>
              <a:rPr sz="1725" b="1" i="0">
                <a:solidFill>
                  <a:srgbClr val="3D8DFF"/>
                </a:solidFill>
              </a:rPr>
              <a:t>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F6B2E-D736-4B94-A670-4D2D624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last processed remote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E979A-ABA9-4D44-8F6F-22D4435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083AC-3ECD-40B3-B778-5F9E0908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22B1D"/>
                </a:solidFill>
              </a:defRPr>
            </a:pPr>
            <a:r>
              <a:rPr sz="1725" b="1" i="0">
                <a:solidFill>
                  <a:srgbClr val="B22B1D"/>
                </a:solidFill>
              </a:rPr>
              <a:t>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C3487-9FEB-4F12-9785-2DAD8710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subset such as a session or department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0D6CF-4D12-4DAA-9411-19284D8B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B9DC4-F455-4090-898E-2C07C315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18000"/>
                </a:solidFill>
              </a:defRPr>
            </a:pPr>
            <a:r>
              <a:rPr sz="1725" b="1" i="0">
                <a:solidFill>
                  <a:srgbClr val="B18000"/>
                </a:solidFill>
              </a:rPr>
              <a:t>Tombstone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7A7AD-4292-49F5-99F6-D492740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deletion record that can synchronize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666DB-745D-43B3-A547-79C080D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F3452-682C-491E-9A00-52815EBB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</a:defRPr>
            </a:pPr>
            <a:r>
              <a:rPr sz="1725" b="1" i="0">
                <a:solidFill>
                  <a:srgbClr val="3D8DFF"/>
                </a:solidFill>
              </a:rPr>
              <a:t>Idempotent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4FAA8-15C8-4E85-ADCC-84F9B54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safe to apply more than once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608686-B526-417B-88A1-FD006BC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ABFE63-7E5A-46EC-B8AD-FE8F407F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62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22B1D"/>
                </a:solidFill>
              </a:defRPr>
            </a:pPr>
            <a:r>
              <a:rPr sz="1725" b="1" i="0">
                <a:solidFill>
                  <a:srgbClr val="B22B1D"/>
                </a:solidFill>
              </a:rPr>
              <a:t>Bootstrap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52C82-6124-4F69-AFC5-910909E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0"/>
                </a:solidFill>
              </a:defRPr>
            </a:pPr>
            <a:r>
              <a:rPr sz="1500" b="0" i="0">
                <a:solidFill>
                  <a:srgbClr val="101820"/>
                </a:solidFill>
              </a:rPr>
              <a:t>initial data needed to start the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B80776-C939-4CBA-911C-272751B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86425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603CF-428D-45D8-925F-64F3C37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2147"/>
                </a:solidFill>
              </a:defRPr>
            </a:pPr>
            <a:r>
              <a:rPr sz="1575" b="1" i="0">
                <a:solidFill>
                  <a:srgbClr val="002147"/>
                </a:solidFill>
              </a:rPr>
              <a:t>If a definition needs a paragraph, the mental model is not clear enough yet.</a:t>
            </a:r>
          </a:p>
        </p:txBody>
      </p:sp>
    </p:spTree>
    <p:extLst>
      <p:ext uri="{BB962C8B-B14F-4D97-AF65-F5344CB8AC3E}">
        <p14:creationId xmlns:p14="http://schemas.microsoft.com/office/powerpoint/2010/main" val="11422764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75E5D-5AF1-43C5-963E-D87177FF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21-title">
            <a:extLst xmlns:a="http://schemas.openxmlformats.org/drawingml/2006/main">
              <a:ext uri="{FF2B5EF4-FFF2-40B4-BE49-F238E27FC236}">
                <a16:creationId xmlns:a16="http://schemas.microsoft.com/office/drawing/2014/main" id="{FC304135-836D-402E-8DA3-1F0C052C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Use a five-part viva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3BC78-339E-42C9-9EAB-6217ED7E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95CC4-599C-40F1-AC7C-D6CFC7FE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1540B-2B08-423D-858A-73CC765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B1D"/>
          </a:solidFill>
          <a:ln xmlns:a="http://schemas.openxmlformats.org/drawingml/2006/main" w="0">
            <a:solidFill>
              <a:srgbClr val="B22B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9D2FF-DA10-4DEC-A110-848065A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2973C-F9EF-43A1-A2FF-8B814A4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22B1D"/>
                </a:solidFill>
              </a:defRPr>
            </a:pPr>
            <a:r>
              <a:rPr sz="1575" b="1" i="0">
                <a:solidFill>
                  <a:srgbClr val="B22B1D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ACB59-9CEE-462B-8D78-F1E7F9A3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What needed to be solved?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84348-63B0-4D98-98C5-FE54ED7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13999-8F8E-4A4D-94AD-56177E0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75819-058D-40B3-A953-88EA564C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18000"/>
                </a:solidFill>
              </a:defRPr>
            </a:pPr>
            <a:r>
              <a:rPr sz="1575" b="1" i="0">
                <a:solidFill>
                  <a:srgbClr val="B18000"/>
                </a:solidFill>
              </a:rPr>
              <a:t>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5EC64-1D23-4268-AB63-918381FC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Which modules or layers own 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4A577-293F-4045-9D6C-B743BEA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9F36E-271E-4C73-A1E4-75EDFCA7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6CB86-CD65-4E47-BA3C-FFBD423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</a:defRPr>
            </a:pPr>
            <a:r>
              <a:rPr sz="1575" b="1" i="0">
                <a:solidFill>
                  <a:srgbClr val="3D8DFF"/>
                </a:solidFill>
              </a:rPr>
              <a:t>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5637D-2055-4D71-BF7D-5EB27624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33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How does data move?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05B1A-132B-4429-AE31-35C9539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37E07-A66A-4720-95D0-99BF354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4DB9C-FEBC-4CDD-91CA-B7EC2EC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E7D32"/>
                </a:solidFill>
              </a:defRPr>
            </a:pPr>
            <a:r>
              <a:rPr sz="1575" b="1" i="0">
                <a:solidFill>
                  <a:srgbClr val="2E7D32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8805E-564E-4C33-AEFA-3377941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Why this approach?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C8B1D-0418-40BD-B2E9-5A8F4C9A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0">
            <a:solidFill>
              <a:srgbClr val="0021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B2B1F-7E20-46ED-9339-65038577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840E7-C7AE-425D-A504-C7D29DF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2147"/>
                </a:solidFill>
              </a:defRPr>
            </a:pPr>
            <a:r>
              <a:rPr sz="1575" b="1" i="0">
                <a:solidFill>
                  <a:srgbClr val="002147"/>
                </a:solidFill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649B5-F494-4C59-B464-42C1006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Which code, table, or test proves it?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3E2A1-6B83-48E5-BDD4-C4A8A486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0363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BE641-099B-495A-A2F6-4BA07E25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24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22B1D"/>
                </a:solidFill>
              </a:defRPr>
            </a:pPr>
            <a:r>
              <a:rPr sz="1800" b="1" i="0">
                <a:solidFill>
                  <a:srgbClr val="B22B1D"/>
                </a:solidFill>
              </a:rPr>
              <a:t>Example: Why use repositories?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D372B-D5D7-4BE1-8C5D-69CF172C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975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0"/>
                </a:solidFill>
              </a:defRPr>
            </a:pPr>
            <a:r>
              <a:rPr sz="1425" b="0" i="0">
                <a:solidFill>
                  <a:srgbClr val="101820"/>
                </a:solidFill>
              </a:rPr>
              <a:t>The UI needs stable operations without knowing the storage technology. Repository interfaces live in the domain layer; platform implementations connect them to Room, snapshots, and Supabase. This lets both platforms share use cases while changing persistence independently. The interface and its two platform implementations are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6384395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77736-D3B1-422C-89E3-7C4F2E0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22B1D"/>
                </a:solidFill>
              </a:defRPr>
            </a:pPr>
            <a:r>
              <a:rPr sz="1125" b="1" i="0">
                <a:solidFill>
                  <a:srgbClr val="B22B1D"/>
                </a:solidFill>
              </a:rPr>
              <a:t>CMS VIVA PREPARATION</a:t>
            </a:r>
          </a:p>
        </p:txBody>
      </p:sp>
      <p:sp>
        <p:nvSpPr>
          <p:cNvPr id="2" name="slide-22-title">
            <a:extLst xmlns:a="http://schemas.openxmlformats.org/drawingml/2006/main">
              <a:ext uri="{FF2B5EF4-FFF2-40B4-BE49-F238E27FC236}">
                <a16:creationId xmlns:a16="http://schemas.microsoft.com/office/drawing/2014/main" id="{5CD4410D-F58D-4C16-87E1-6FBBA85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</a:defRPr>
            </a:pPr>
            <a:r>
              <a:rPr sz="3150" b="1" i="0">
                <a:solidFill>
                  <a:srgbClr val="101820"/>
                </a:solidFill>
              </a:rPr>
              <a:t>Practice until the explanation is yours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D48E-12A1-4E41-9496-2041668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6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8000"/>
          </a:solidFill>
          <a:ln xmlns:a="http://schemas.openxmlformats.org/drawingml/2006/main" w="0">
            <a:solidFill>
              <a:srgbClr val="B18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D89D7-8950-4735-8D5F-E60EB30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36E"/>
                </a:solidFill>
              </a:defRPr>
            </a:pPr>
            <a:r>
              <a:rPr sz="1050" b="1" i="0">
                <a:solidFill>
                  <a:srgbClr val="59636E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034A2-B358-487C-B9D6-09A7DDC5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257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8D7EF-30A0-4301-B9AF-6788008A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257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B18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A39F8-55D1-4D74-B1B7-46C6031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</a:defRPr>
            </a:pPr>
            <a:r>
              <a:rPr sz="1650" b="1" i="0">
                <a:solidFill>
                  <a:srgbClr val="3D8DFF"/>
                </a:solidFill>
              </a:rPr>
              <a:t>ARCHITECTURE +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6BBBF-C900-43FD-B786-C2049B4B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5148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Why six apps instead of one?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Why keep core platform-independent?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How does login become authorization?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Why is RLS still required?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62BB-693D-428A-86FD-B1C7D100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18000"/>
                </a:solidFill>
              </a:defRPr>
            </a:pPr>
            <a:r>
              <a:rPr sz="1650" b="1" i="0">
                <a:solidFill>
                  <a:srgbClr val="B18000"/>
                </a:solidFill>
              </a:rPr>
              <a:t>DATABASE +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9B320-8DE3-416A-AF0A-8B02283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45148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Why use composite keys?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How does incremental sync work?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Why keep tombstones?</a:t>
            </a:r>
          </a:p>
          <a:p xmlns:a="http://schemas.openxmlformats.org/drawingml/2006/main">
            <a:pPr algn="l">
              <a:defRPr sz="1650" b="0" i="0">
                <a:solidFill>
                  <a:srgbClr val="101820"/>
                </a:solidFill>
              </a:defRPr>
            </a:pPr>
            <a:r>
              <a:rPr sz="1650" b="0" i="0">
                <a:solidFill>
                  <a:srgbClr val="101820"/>
                </a:solidFill>
              </a:rPr>
              <a:t>• What is not complete yet?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879FE-EC5F-486E-AC3B-F8C0202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210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9525">
            <a:solidFill>
              <a:srgbClr val="0021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34084-48BE-4095-B300-7F571C1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18000"/>
                </a:solidFill>
              </a:defRPr>
            </a:pPr>
            <a:r>
              <a:rPr sz="1575" b="1" i="0">
                <a:solidFill>
                  <a:srgbClr val="B18000"/>
                </a:solidFill>
              </a:rPr>
              <a:t>One-sentence synthesis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AF12D-7D6E-4827-9326-2FFA4E8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CMS separates role-specific clients from shared domain logic, protects one Supabase data model with RLS, and uses platform-specific caches whose sync guarantees must be explained honestly.</a:t>
            </a:r>
          </a:p>
        </p:txBody>
      </p:sp>
    </p:spTree>
    <p:extLst>
      <p:ext uri="{BB962C8B-B14F-4D97-AF65-F5344CB8AC3E}">
        <p14:creationId xmlns:p14="http://schemas.microsoft.com/office/powerpoint/2010/main" val="208506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2026-08-29T05:54:31.1510000Z</dcterms:created>
  <dcterms:modified xsi:type="dcterms:W3CDTF">2026-08-29T05:54:31.1510000Z</dcterms:modified>
</coreProperties>
</file>